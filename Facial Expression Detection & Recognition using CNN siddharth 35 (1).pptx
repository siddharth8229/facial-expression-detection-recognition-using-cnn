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1" r:id="rId1"/>
  </p:sldMasterIdLst>
  <p:notesMasterIdLst>
    <p:notesMasterId r:id="rId25"/>
  </p:notesMasterIdLst>
  <p:sldIdLst>
    <p:sldId id="281" r:id="rId2"/>
    <p:sldId id="256" r:id="rId3"/>
    <p:sldId id="271" r:id="rId4"/>
    <p:sldId id="287" r:id="rId5"/>
    <p:sldId id="286" r:id="rId6"/>
    <p:sldId id="284" r:id="rId7"/>
    <p:sldId id="289" r:id="rId8"/>
    <p:sldId id="285" r:id="rId9"/>
    <p:sldId id="257" r:id="rId10"/>
    <p:sldId id="259" r:id="rId11"/>
    <p:sldId id="260" r:id="rId12"/>
    <p:sldId id="272" r:id="rId13"/>
    <p:sldId id="283" r:id="rId14"/>
    <p:sldId id="282" r:id="rId15"/>
    <p:sldId id="268" r:id="rId16"/>
    <p:sldId id="263" r:id="rId17"/>
    <p:sldId id="264" r:id="rId18"/>
    <p:sldId id="265" r:id="rId19"/>
    <p:sldId id="266" r:id="rId20"/>
    <p:sldId id="267" r:id="rId21"/>
    <p:sldId id="274" r:id="rId22"/>
    <p:sldId id="280" r:id="rId23"/>
    <p:sldId id="27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BDEACE-09AF-4936-AF9D-5683D5E1A976}" v="6" dt="2023-06-02T07:48:02.187"/>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880F3D-1F23-47F8-8ED2-F02B9B1F3EE2}" type="datetimeFigureOut">
              <a:rPr lang="en-IN" smtClean="0"/>
              <a:t>04-05-2025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E99E8E-93CB-4232-B621-6E3EDA39E3BC}" type="slidenum">
              <a:rPr lang="en-IN" smtClean="0"/>
              <a:t>‹#›</a:t>
            </a:fld>
            <a:endParaRPr lang="en-IN" dirty="0"/>
          </a:p>
        </p:txBody>
      </p:sp>
    </p:spTree>
    <p:extLst>
      <p:ext uri="{BB962C8B-B14F-4D97-AF65-F5344CB8AC3E}">
        <p14:creationId xmlns:p14="http://schemas.microsoft.com/office/powerpoint/2010/main" val="3643087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181DC7A-B18E-45C8-8E3A-C5037F8A7ADC}" type="slidenum">
              <a:rPr lang="en-IN" smtClean="0"/>
              <a:t>‹#›</a:t>
            </a:fld>
            <a:endParaRPr lang="en-IN" dirty="0"/>
          </a:p>
        </p:txBody>
      </p:sp>
    </p:spTree>
    <p:extLst>
      <p:ext uri="{BB962C8B-B14F-4D97-AF65-F5344CB8AC3E}">
        <p14:creationId xmlns:p14="http://schemas.microsoft.com/office/powerpoint/2010/main" val="2549924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181DC7A-B18E-45C8-8E3A-C5037F8A7ADC}" type="slidenum">
              <a:rPr lang="en-IN" smtClean="0"/>
              <a:t>‹#›</a:t>
            </a:fld>
            <a:endParaRPr lang="en-IN" dirty="0"/>
          </a:p>
        </p:txBody>
      </p:sp>
    </p:spTree>
    <p:extLst>
      <p:ext uri="{BB962C8B-B14F-4D97-AF65-F5344CB8AC3E}">
        <p14:creationId xmlns:p14="http://schemas.microsoft.com/office/powerpoint/2010/main" val="3430815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181DC7A-B18E-45C8-8E3A-C5037F8A7ADC}" type="slidenum">
              <a:rPr lang="en-IN" smtClean="0"/>
              <a:t>‹#›</a:t>
            </a:fld>
            <a:endParaRPr lang="en-IN" dirty="0"/>
          </a:p>
        </p:txBody>
      </p:sp>
    </p:spTree>
    <p:extLst>
      <p:ext uri="{BB962C8B-B14F-4D97-AF65-F5344CB8AC3E}">
        <p14:creationId xmlns:p14="http://schemas.microsoft.com/office/powerpoint/2010/main" val="19639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1181DC7A-B18E-45C8-8E3A-C5037F8A7ADC}" type="slidenum">
              <a:rPr lang="en-IN" smtClean="0"/>
              <a:t>‹#›</a:t>
            </a:fld>
            <a:endParaRPr lang="en-IN" dirty="0"/>
          </a:p>
        </p:txBody>
      </p:sp>
    </p:spTree>
    <p:extLst>
      <p:ext uri="{BB962C8B-B14F-4D97-AF65-F5344CB8AC3E}">
        <p14:creationId xmlns:p14="http://schemas.microsoft.com/office/powerpoint/2010/main" val="2129055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1181DC7A-B18E-45C8-8E3A-C5037F8A7ADC}" type="slidenum">
              <a:rPr lang="en-IN" smtClean="0"/>
              <a:t>‹#›</a:t>
            </a:fld>
            <a:endParaRPr lang="en-IN" dirty="0"/>
          </a:p>
        </p:txBody>
      </p:sp>
    </p:spTree>
    <p:extLst>
      <p:ext uri="{BB962C8B-B14F-4D97-AF65-F5344CB8AC3E}">
        <p14:creationId xmlns:p14="http://schemas.microsoft.com/office/powerpoint/2010/main" val="1034952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5" name="Footer Placeholder 3"/>
          <p:cNvSpPr>
            <a:spLocks noGrp="1"/>
          </p:cNvSpPr>
          <p:nvPr>
            <p:ph type="ftr" sz="quarter" idx="11"/>
          </p:nvPr>
        </p:nvSpPr>
        <p:spPr/>
        <p:txBody>
          <a:bodyPr/>
          <a:lstStyle/>
          <a:p>
            <a:endParaRPr lang="en-IN" dirty="0"/>
          </a:p>
        </p:txBody>
      </p:sp>
      <p:sp>
        <p:nvSpPr>
          <p:cNvPr id="6" name="Slide Number Placeholder 4"/>
          <p:cNvSpPr>
            <a:spLocks noGrp="1"/>
          </p:cNvSpPr>
          <p:nvPr>
            <p:ph type="sldNum" sz="quarter" idx="12"/>
          </p:nvPr>
        </p:nvSpPr>
        <p:spPr/>
        <p:txBody>
          <a:bodyPr/>
          <a:lstStyle/>
          <a:p>
            <a:fld id="{1181DC7A-B18E-45C8-8E3A-C5037F8A7ADC}" type="slidenum">
              <a:rPr lang="en-IN" smtClean="0"/>
              <a:t>‹#›</a:t>
            </a:fld>
            <a:endParaRPr lang="en-IN" dirty="0"/>
          </a:p>
        </p:txBody>
      </p:sp>
    </p:spTree>
    <p:extLst>
      <p:ext uri="{BB962C8B-B14F-4D97-AF65-F5344CB8AC3E}">
        <p14:creationId xmlns:p14="http://schemas.microsoft.com/office/powerpoint/2010/main" val="2378742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5" name="Footer Placeholder 2"/>
          <p:cNvSpPr>
            <a:spLocks noGrp="1"/>
          </p:cNvSpPr>
          <p:nvPr>
            <p:ph type="ftr" sz="quarter" idx="11"/>
          </p:nvPr>
        </p:nvSpPr>
        <p:spPr/>
        <p:txBody>
          <a:bodyPr/>
          <a:lstStyle/>
          <a:p>
            <a:endParaRPr lang="en-IN" dirty="0"/>
          </a:p>
        </p:txBody>
      </p:sp>
      <p:sp>
        <p:nvSpPr>
          <p:cNvPr id="6" name="Slide Number Placeholder 3"/>
          <p:cNvSpPr>
            <a:spLocks noGrp="1"/>
          </p:cNvSpPr>
          <p:nvPr>
            <p:ph type="sldNum" sz="quarter" idx="12"/>
          </p:nvPr>
        </p:nvSpPr>
        <p:spPr/>
        <p:txBody>
          <a:bodyPr/>
          <a:lstStyle/>
          <a:p>
            <a:fld id="{1181DC7A-B18E-45C8-8E3A-C5037F8A7ADC}" type="slidenum">
              <a:rPr lang="en-IN" smtClean="0"/>
              <a:t>‹#›</a:t>
            </a:fld>
            <a:endParaRPr lang="en-IN" dirty="0"/>
          </a:p>
        </p:txBody>
      </p:sp>
    </p:spTree>
    <p:extLst>
      <p:ext uri="{BB962C8B-B14F-4D97-AF65-F5344CB8AC3E}">
        <p14:creationId xmlns:p14="http://schemas.microsoft.com/office/powerpoint/2010/main" val="4095245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5" name="Footer Placeholder 5"/>
          <p:cNvSpPr>
            <a:spLocks noGrp="1"/>
          </p:cNvSpPr>
          <p:nvPr>
            <p:ph type="ftr" sz="quarter" idx="11"/>
          </p:nvPr>
        </p:nvSpPr>
        <p:spPr/>
        <p:txBody>
          <a:bodyPr/>
          <a:lstStyle/>
          <a:p>
            <a:endParaRPr lang="en-IN" dirty="0"/>
          </a:p>
        </p:txBody>
      </p:sp>
      <p:sp>
        <p:nvSpPr>
          <p:cNvPr id="6" name="Slide Number Placeholder 6"/>
          <p:cNvSpPr>
            <a:spLocks noGrp="1"/>
          </p:cNvSpPr>
          <p:nvPr>
            <p:ph type="sldNum" sz="quarter" idx="12"/>
          </p:nvPr>
        </p:nvSpPr>
        <p:spPr/>
        <p:txBody>
          <a:bodyPr/>
          <a:lstStyle/>
          <a:p>
            <a:fld id="{1181DC7A-B18E-45C8-8E3A-C5037F8A7ADC}" type="slidenum">
              <a:rPr lang="en-IN" smtClean="0"/>
              <a:t>‹#›</a:t>
            </a:fld>
            <a:endParaRPr lang="en-IN" dirty="0"/>
          </a:p>
        </p:txBody>
      </p:sp>
    </p:spTree>
    <p:extLst>
      <p:ext uri="{BB962C8B-B14F-4D97-AF65-F5344CB8AC3E}">
        <p14:creationId xmlns:p14="http://schemas.microsoft.com/office/powerpoint/2010/main" val="1899228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1181DC7A-B18E-45C8-8E3A-C5037F8A7ADC}" type="slidenum">
              <a:rPr lang="en-IN" smtClean="0"/>
              <a:t>‹#›</a:t>
            </a:fld>
            <a:endParaRPr lang="en-IN" dirty="0"/>
          </a:p>
        </p:txBody>
      </p:sp>
    </p:spTree>
    <p:extLst>
      <p:ext uri="{BB962C8B-B14F-4D97-AF65-F5344CB8AC3E}">
        <p14:creationId xmlns:p14="http://schemas.microsoft.com/office/powerpoint/2010/main" val="3222371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1181DC7A-B18E-45C8-8E3A-C5037F8A7ADC}" type="slidenum">
              <a:rPr lang="en-IN" smtClean="0"/>
              <a:t>‹#›</a:t>
            </a:fld>
            <a:endParaRPr lang="en-IN" dirty="0"/>
          </a:p>
        </p:txBody>
      </p:sp>
    </p:spTree>
    <p:extLst>
      <p:ext uri="{BB962C8B-B14F-4D97-AF65-F5344CB8AC3E}">
        <p14:creationId xmlns:p14="http://schemas.microsoft.com/office/powerpoint/2010/main" val="2677371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181DC7A-B18E-45C8-8E3A-C5037F8A7ADC}" type="slidenum">
              <a:rPr lang="en-IN" smtClean="0"/>
              <a:t>‹#›</a:t>
            </a:fld>
            <a:endParaRPr lang="en-IN" dirty="0"/>
          </a:p>
        </p:txBody>
      </p:sp>
    </p:spTree>
    <p:extLst>
      <p:ext uri="{BB962C8B-B14F-4D97-AF65-F5344CB8AC3E}">
        <p14:creationId xmlns:p14="http://schemas.microsoft.com/office/powerpoint/2010/main" val="1401634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181DC7A-B18E-45C8-8E3A-C5037F8A7ADC}" type="slidenum">
              <a:rPr lang="en-IN" smtClean="0"/>
              <a:t>‹#›</a:t>
            </a:fld>
            <a:endParaRPr lang="en-IN"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961040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181DC7A-B18E-45C8-8E3A-C5037F8A7ADC}" type="slidenum">
              <a:rPr lang="en-IN" smtClean="0"/>
              <a:t>‹#›</a:t>
            </a:fld>
            <a:endParaRPr lang="en-IN" dirty="0"/>
          </a:p>
        </p:txBody>
      </p:sp>
    </p:spTree>
    <p:extLst>
      <p:ext uri="{BB962C8B-B14F-4D97-AF65-F5344CB8AC3E}">
        <p14:creationId xmlns:p14="http://schemas.microsoft.com/office/powerpoint/2010/main" val="1361475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4"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181DC7A-B18E-45C8-8E3A-C5037F8A7ADC}" type="slidenum">
              <a:rPr lang="en-IN" smtClean="0"/>
              <a:t>‹#›</a:t>
            </a:fld>
            <a:endParaRPr lang="en-IN" dirty="0"/>
          </a:p>
        </p:txBody>
      </p:sp>
    </p:spTree>
    <p:extLst>
      <p:ext uri="{BB962C8B-B14F-4D97-AF65-F5344CB8AC3E}">
        <p14:creationId xmlns:p14="http://schemas.microsoft.com/office/powerpoint/2010/main" val="28270199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4"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181DC7A-B18E-45C8-8E3A-C5037F8A7ADC}" type="slidenum">
              <a:rPr lang="en-IN" smtClean="0"/>
              <a:t>‹#›</a:t>
            </a:fld>
            <a:endParaRPr lang="en-IN" dirty="0"/>
          </a:p>
        </p:txBody>
      </p:sp>
    </p:spTree>
    <p:extLst>
      <p:ext uri="{BB962C8B-B14F-4D97-AF65-F5344CB8AC3E}">
        <p14:creationId xmlns:p14="http://schemas.microsoft.com/office/powerpoint/2010/main" val="9941301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181DC7A-B18E-45C8-8E3A-C5037F8A7ADC}" type="slidenum">
              <a:rPr lang="en-IN" smtClean="0"/>
              <a:t>‹#›</a:t>
            </a:fld>
            <a:endParaRPr lang="en-IN" dirty="0"/>
          </a:p>
        </p:txBody>
      </p:sp>
    </p:spTree>
    <p:extLst>
      <p:ext uri="{BB962C8B-B14F-4D97-AF65-F5344CB8AC3E}">
        <p14:creationId xmlns:p14="http://schemas.microsoft.com/office/powerpoint/2010/main" val="2901909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ECD1A0-22E1-4567-BF24-57057B0598A5}" type="datetimeFigureOut">
              <a:rPr lang="en-IN" smtClean="0"/>
              <a:t>04-05-2025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181DC7A-B18E-45C8-8E3A-C5037F8A7ADC}" type="slidenum">
              <a:rPr lang="en-IN" smtClean="0"/>
              <a:t>‹#›</a:t>
            </a:fld>
            <a:endParaRPr lang="en-IN" dirty="0"/>
          </a:p>
        </p:txBody>
      </p:sp>
    </p:spTree>
    <p:extLst>
      <p:ext uri="{BB962C8B-B14F-4D97-AF65-F5344CB8AC3E}">
        <p14:creationId xmlns:p14="http://schemas.microsoft.com/office/powerpoint/2010/main" val="2250259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FECD1A0-22E1-4567-BF24-57057B0598A5}" type="datetimeFigureOut">
              <a:rPr lang="en-IN" smtClean="0"/>
              <a:t>04-05-2025</a:t>
            </a:fld>
            <a:endParaRPr lang="en-IN"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181DC7A-B18E-45C8-8E3A-C5037F8A7ADC}" type="slidenum">
              <a:rPr lang="en-IN" smtClean="0"/>
              <a:t>‹#›</a:t>
            </a:fld>
            <a:endParaRPr lang="en-IN" dirty="0"/>
          </a:p>
        </p:txBody>
      </p:sp>
    </p:spTree>
    <p:extLst>
      <p:ext uri="{BB962C8B-B14F-4D97-AF65-F5344CB8AC3E}">
        <p14:creationId xmlns:p14="http://schemas.microsoft.com/office/powerpoint/2010/main" val="3583247321"/>
      </p:ext>
    </p:extLst>
  </p:cSld>
  <p:clrMap bg1="dk1" tx1="lt1" bg2="dk2" tx2="lt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 id="2147483934" r:id="rId13"/>
    <p:sldLayoutId id="2147483935" r:id="rId14"/>
    <p:sldLayoutId id="2147483936" r:id="rId15"/>
    <p:sldLayoutId id="2147483937" r:id="rId16"/>
    <p:sldLayoutId id="2147483938"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p:cNvPicPr preferRelativeResize="0"/>
          <p:nvPr/>
        </p:nvPicPr>
        <p:blipFill rotWithShape="1">
          <a:blip r:embed="rId3">
            <a:alphaModFix/>
          </a:blip>
          <a:srcRect/>
          <a:stretch/>
        </p:blipFill>
        <p:spPr>
          <a:xfrm>
            <a:off x="447055" y="482201"/>
            <a:ext cx="2543033" cy="960232"/>
          </a:xfrm>
          <a:prstGeom prst="rect">
            <a:avLst/>
          </a:prstGeom>
          <a:noFill/>
          <a:ln>
            <a:noFill/>
          </a:ln>
        </p:spPr>
      </p:pic>
      <p:pic>
        <p:nvPicPr>
          <p:cNvPr id="85" name="Google Shape;85;p13" descr="Gujarat University logo"/>
          <p:cNvPicPr preferRelativeResize="0"/>
          <p:nvPr/>
        </p:nvPicPr>
        <p:blipFill rotWithShape="1">
          <a:blip r:embed="rId4">
            <a:alphaModFix/>
          </a:blip>
          <a:srcRect l="24045" t="23600" r="23689" b="23867"/>
          <a:stretch/>
        </p:blipFill>
        <p:spPr>
          <a:xfrm>
            <a:off x="10202156" y="160519"/>
            <a:ext cx="1724167" cy="1732963"/>
          </a:xfrm>
          <a:prstGeom prst="rect">
            <a:avLst/>
          </a:prstGeom>
          <a:noFill/>
          <a:ln>
            <a:noFill/>
          </a:ln>
        </p:spPr>
      </p:pic>
      <p:graphicFrame>
        <p:nvGraphicFramePr>
          <p:cNvPr id="86" name="Google Shape;86;p13"/>
          <p:cNvGraphicFramePr/>
          <p:nvPr>
            <p:extLst>
              <p:ext uri="{D42A27DB-BD31-4B8C-83A1-F6EECF244321}">
                <p14:modId xmlns:p14="http://schemas.microsoft.com/office/powerpoint/2010/main" val="1440859011"/>
              </p:ext>
            </p:extLst>
          </p:nvPr>
        </p:nvGraphicFramePr>
        <p:xfrm>
          <a:off x="2589784" y="1828799"/>
          <a:ext cx="7386325" cy="426730"/>
        </p:xfrm>
        <a:graphic>
          <a:graphicData uri="http://schemas.openxmlformats.org/drawingml/2006/table">
            <a:tbl>
              <a:tblPr firstRow="1" bandRow="1">
                <a:noFill/>
              </a:tblPr>
              <a:tblGrid>
                <a:gridCol w="7386325">
                  <a:extLst>
                    <a:ext uri="{9D8B030D-6E8A-4147-A177-3AD203B41FA5}">
                      <a16:colId xmlns:a16="http://schemas.microsoft.com/office/drawing/2014/main" val="20000"/>
                    </a:ext>
                  </a:extLst>
                </a:gridCol>
              </a:tblGrid>
              <a:tr h="370850">
                <a:tc>
                  <a:txBody>
                    <a:bodyPr/>
                    <a:lstStyle/>
                    <a:p>
                      <a:pPr marL="0" marR="0" lvl="0" indent="0" algn="ctr" rtl="0">
                        <a:spcBef>
                          <a:spcPts val="0"/>
                        </a:spcBef>
                        <a:spcAft>
                          <a:spcPts val="0"/>
                        </a:spcAft>
                        <a:buNone/>
                      </a:pPr>
                      <a:r>
                        <a:rPr lang="en-IN" sz="2200" b="1" u="none" strike="noStrike" cap="none" dirty="0">
                          <a:solidFill>
                            <a:schemeClr val="tx1"/>
                          </a:solidFill>
                          <a:latin typeface="Bookman Old Style" panose="02050604050505020204" pitchFamily="18" charset="0"/>
                          <a:ea typeface="Times New Roman"/>
                          <a:cs typeface="Times New Roman"/>
                          <a:sym typeface="Times New Roman"/>
                        </a:rPr>
                        <a:t>M.Sc. IT Business Intelligence &amp; Analytics</a:t>
                      </a:r>
                      <a:endParaRPr sz="2200" b="1" dirty="0">
                        <a:solidFill>
                          <a:schemeClr val="tx1"/>
                        </a:solidFill>
                        <a:latin typeface="Bookman Old Style" panose="02050604050505020204" pitchFamily="18" charset="0"/>
                      </a:endParaRPr>
                    </a:p>
                  </a:txBody>
                  <a:tcPr marL="91450" marR="91450" marT="45725" marB="45725"/>
                </a:tc>
                <a:extLst>
                  <a:ext uri="{0D108BD9-81ED-4DB2-BD59-A6C34878D82A}">
                    <a16:rowId xmlns:a16="http://schemas.microsoft.com/office/drawing/2014/main" val="10000"/>
                  </a:ext>
                </a:extLst>
              </a:tr>
            </a:tbl>
          </a:graphicData>
        </a:graphic>
      </p:graphicFrame>
      <p:graphicFrame>
        <p:nvGraphicFramePr>
          <p:cNvPr id="87" name="Google Shape;87;p13"/>
          <p:cNvGraphicFramePr/>
          <p:nvPr>
            <p:extLst>
              <p:ext uri="{D42A27DB-BD31-4B8C-83A1-F6EECF244321}">
                <p14:modId xmlns:p14="http://schemas.microsoft.com/office/powerpoint/2010/main" val="3185819983"/>
              </p:ext>
            </p:extLst>
          </p:nvPr>
        </p:nvGraphicFramePr>
        <p:xfrm>
          <a:off x="2286543" y="2892489"/>
          <a:ext cx="7915613" cy="2976466"/>
        </p:xfrm>
        <a:graphic>
          <a:graphicData uri="http://schemas.openxmlformats.org/drawingml/2006/table">
            <a:tbl>
              <a:tblPr firstRow="1" bandRow="1">
                <a:noFill/>
              </a:tblPr>
              <a:tblGrid>
                <a:gridCol w="7915613">
                  <a:extLst>
                    <a:ext uri="{9D8B030D-6E8A-4147-A177-3AD203B41FA5}">
                      <a16:colId xmlns:a16="http://schemas.microsoft.com/office/drawing/2014/main" val="20000"/>
                    </a:ext>
                  </a:extLst>
                </a:gridCol>
              </a:tblGrid>
              <a:tr h="1014864">
                <a:tc>
                  <a:txBody>
                    <a:bodyPr/>
                    <a:lstStyle/>
                    <a:p>
                      <a:pPr marL="0" marR="0" lvl="0" indent="0" algn="l" rtl="0">
                        <a:spcBef>
                          <a:spcPts val="0"/>
                        </a:spcBef>
                        <a:spcAft>
                          <a:spcPts val="0"/>
                        </a:spcAft>
                        <a:buNone/>
                      </a:pPr>
                      <a:r>
                        <a:rPr lang="en-IN" sz="1800" u="none" strike="noStrike" cap="none" dirty="0">
                          <a:latin typeface="Bookman Old Style" panose="02050604050505020204" pitchFamily="18" charset="0"/>
                        </a:rPr>
                        <a:t>Name :-</a:t>
                      </a:r>
                      <a:r>
                        <a:rPr lang="en-IN" sz="1800" dirty="0">
                          <a:solidFill>
                            <a:schemeClr val="tx1">
                              <a:lumMod val="95000"/>
                            </a:schemeClr>
                          </a:solidFill>
                          <a:latin typeface="Bookman Old Style" panose="02050604050505020204" pitchFamily="18" charset="0"/>
                        </a:rPr>
                        <a:t>Patel Siddharth Rohit bhai </a:t>
                      </a:r>
                      <a:r>
                        <a:rPr lang="en-IN" sz="1800" u="none" strike="noStrike" cap="none" dirty="0">
                          <a:latin typeface="Bookman Old Style" panose="02050604050505020204" pitchFamily="18" charset="0"/>
                        </a:rPr>
                        <a:t> </a:t>
                      </a:r>
                      <a:endParaRPr sz="1800" dirty="0">
                        <a:latin typeface="Bookman Old Style" panose="02050604050505020204" pitchFamily="18" charset="0"/>
                      </a:endParaRPr>
                    </a:p>
                  </a:txBody>
                  <a:tcPr marL="91450" marR="91450" marT="45725" marB="45725" anchor="ctr"/>
                </a:tc>
                <a:extLst>
                  <a:ext uri="{0D108BD9-81ED-4DB2-BD59-A6C34878D82A}">
                    <a16:rowId xmlns:a16="http://schemas.microsoft.com/office/drawing/2014/main" val="10000"/>
                  </a:ext>
                </a:extLst>
              </a:tr>
              <a:tr h="812216">
                <a:tc>
                  <a:txBody>
                    <a:bodyPr/>
                    <a:lstStyle/>
                    <a:p>
                      <a:pPr marL="0" marR="0" lvl="0" indent="0" algn="l" rtl="0">
                        <a:lnSpc>
                          <a:spcPct val="100000"/>
                        </a:lnSpc>
                        <a:spcBef>
                          <a:spcPts val="0"/>
                        </a:spcBef>
                        <a:spcAft>
                          <a:spcPts val="0"/>
                        </a:spcAft>
                        <a:buClr>
                          <a:schemeClr val="dk1"/>
                        </a:buClr>
                        <a:buSzPts val="1800"/>
                        <a:buFont typeface="Arial"/>
                        <a:buNone/>
                      </a:pPr>
                      <a:r>
                        <a:rPr lang="en-IN" sz="1800" u="none" strike="noStrike" cap="none" dirty="0">
                          <a:latin typeface="Bookman Old Style" panose="02050604050505020204" pitchFamily="18" charset="0"/>
                        </a:rPr>
                        <a:t>Sem- 4</a:t>
                      </a:r>
                      <a:endParaRPr dirty="0">
                        <a:latin typeface="Bookman Old Style" panose="02050604050505020204" pitchFamily="18" charset="0"/>
                      </a:endParaRPr>
                    </a:p>
                  </a:txBody>
                  <a:tcPr marL="91450" marR="91450" marT="45725" marB="45725" anchor="ctr"/>
                </a:tc>
                <a:extLst>
                  <a:ext uri="{0D108BD9-81ED-4DB2-BD59-A6C34878D82A}">
                    <a16:rowId xmlns:a16="http://schemas.microsoft.com/office/drawing/2014/main" val="10001"/>
                  </a:ext>
                </a:extLst>
              </a:tr>
              <a:tr h="114938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u="none" strike="noStrike" cap="none" dirty="0">
                          <a:latin typeface="Bookman Old Style" panose="02050604050505020204" pitchFamily="18" charset="0"/>
                        </a:rPr>
                        <a:t>Project Title :- </a:t>
                      </a:r>
                      <a:r>
                        <a:rPr lang="en-US" sz="1800" b="0" dirty="0">
                          <a:solidFill>
                            <a:schemeClr val="tx1">
                              <a:lumMod val="65000"/>
                              <a:lumOff val="35000"/>
                            </a:schemeClr>
                          </a:solidFill>
                          <a:latin typeface="Bookman Old Style" panose="02050604050505020204" pitchFamily="18" charset="0"/>
                          <a:cs typeface="Times New Roman" panose="02020603050405020304" pitchFamily="18" charset="0"/>
                        </a:rPr>
                        <a:t>Facial Expression Detection &amp; Recognition using CNN</a:t>
                      </a:r>
                    </a:p>
                    <a:p>
                      <a:pPr marL="0" marR="0" lvl="0" indent="0" algn="l" rtl="0">
                        <a:spcBef>
                          <a:spcPts val="0"/>
                        </a:spcBef>
                        <a:spcAft>
                          <a:spcPts val="0"/>
                        </a:spcAft>
                        <a:buNone/>
                      </a:pPr>
                      <a:endParaRPr lang="en-US" dirty="0">
                        <a:latin typeface="Bookman Old Style" panose="02050604050505020204" pitchFamily="18" charset="0"/>
                      </a:endParaRPr>
                    </a:p>
                    <a:p>
                      <a:pPr marL="0" marR="0" lvl="0" indent="0" algn="l" rtl="0">
                        <a:spcBef>
                          <a:spcPts val="0"/>
                        </a:spcBef>
                        <a:spcAft>
                          <a:spcPts val="0"/>
                        </a:spcAft>
                        <a:buNone/>
                      </a:pPr>
                      <a:r>
                        <a:rPr lang="en-US" dirty="0">
                          <a:latin typeface="Bookman Old Style" panose="02050604050505020204" pitchFamily="18" charset="0"/>
                        </a:rPr>
                        <a:t>Enrolment No:- 202327600035</a:t>
                      </a:r>
                      <a:endParaRPr dirty="0">
                        <a:latin typeface="Bookman Old Style" panose="02050604050505020204" pitchFamily="18" charset="0"/>
                      </a:endParaRPr>
                    </a:p>
                  </a:txBody>
                  <a:tcPr marL="91450" marR="91450" marT="45725" marB="45725" anchor="ctr"/>
                </a:tc>
                <a:extLst>
                  <a:ext uri="{0D108BD9-81ED-4DB2-BD59-A6C34878D82A}">
                    <a16:rowId xmlns:a16="http://schemas.microsoft.com/office/drawing/2014/main" val="10002"/>
                  </a:ext>
                </a:extLst>
              </a:tr>
            </a:tbl>
          </a:graphicData>
        </a:graphic>
      </p:graphicFrame>
      <p:cxnSp>
        <p:nvCxnSpPr>
          <p:cNvPr id="11" name="Straight Connector 10">
            <a:extLst>
              <a:ext uri="{FF2B5EF4-FFF2-40B4-BE49-F238E27FC236}">
                <a16:creationId xmlns:a16="http://schemas.microsoft.com/office/drawing/2014/main" id="{4377F161-48DC-704C-A578-4E4BE5CC25E7}"/>
              </a:ext>
            </a:extLst>
          </p:cNvPr>
          <p:cNvCxnSpPr>
            <a:cxnSpLocks/>
          </p:cNvCxnSpPr>
          <p:nvPr/>
        </p:nvCxnSpPr>
        <p:spPr>
          <a:xfrm>
            <a:off x="2286543" y="5299788"/>
            <a:ext cx="7915613"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62979AC-AEA2-C63A-A9C4-F1C0B7E38CD6}"/>
              </a:ext>
            </a:extLst>
          </p:cNvPr>
          <p:cNvSpPr txBox="1"/>
          <p:nvPr/>
        </p:nvSpPr>
        <p:spPr>
          <a:xfrm>
            <a:off x="501770" y="771017"/>
            <a:ext cx="11188460" cy="3046988"/>
          </a:xfrm>
          <a:prstGeom prst="rect">
            <a:avLst/>
          </a:prstGeom>
          <a:noFill/>
        </p:spPr>
        <p:txBody>
          <a:bodyPr wrap="square">
            <a:spAutoFit/>
          </a:bodyPr>
          <a:lstStyle/>
          <a:p>
            <a:pPr algn="ctr"/>
            <a:r>
              <a:rPr lang="en" sz="3200" b="1" dirty="0">
                <a:solidFill>
                  <a:schemeClr val="tx1">
                    <a:lumMod val="95000"/>
                  </a:schemeClr>
                </a:solidFill>
                <a:latin typeface="Bookman Old Style" panose="02050604050505020204" pitchFamily="18" charset="0"/>
                <a:cs typeface="Times New Roman" panose="02020603050405020304" pitchFamily="18" charset="0"/>
              </a:rPr>
              <a:t>Introduction</a:t>
            </a:r>
          </a:p>
          <a:p>
            <a:pPr algn="ctr"/>
            <a:endParaRPr lang="en" sz="2000" b="1" i="1" dirty="0">
              <a:solidFill>
                <a:schemeClr val="accent2">
                  <a:lumMod val="75000"/>
                </a:schemeClr>
              </a:solidFill>
              <a:latin typeface="Times New Roman" panose="02020603050405020304" pitchFamily="18" charset="0"/>
              <a:cs typeface="Times New Roman" panose="02020603050405020304" pitchFamily="18" charset="0"/>
            </a:endParaRPr>
          </a:p>
          <a:p>
            <a:pPr algn="ctr"/>
            <a:endParaRPr lang="en" sz="2000" b="1" i="1" dirty="0">
              <a:solidFill>
                <a:schemeClr val="accent2">
                  <a:lumMod val="75000"/>
                </a:schemeClr>
              </a:solidFill>
              <a:latin typeface="Times New Roman" panose="02020603050405020304" pitchFamily="18" charset="0"/>
              <a:cs typeface="Times New Roman" panose="02020603050405020304" pitchFamily="18" charset="0"/>
            </a:endParaRPr>
          </a:p>
          <a:p>
            <a:r>
              <a:rPr lang="en-US" sz="2000" dirty="0">
                <a:latin typeface="Bookman Old Style" panose="02050604050505020204" pitchFamily="18" charset="0"/>
              </a:rPr>
              <a:t>This project is about recognizing people’s facial expressions using computer technology. It uses a type of deep learning model called a Convolutional Neural Network (CNN) to look at faces and understand emotions like happy, sad, or angry. The model learns by looking at many pictures of faces with different expressions. Once trained, it can tell how someone feels just by looking at their face. This can be useful in apps like security, games, or healthcare.</a:t>
            </a:r>
          </a:p>
        </p:txBody>
      </p:sp>
    </p:spTree>
    <p:extLst>
      <p:ext uri="{BB962C8B-B14F-4D97-AF65-F5344CB8AC3E}">
        <p14:creationId xmlns:p14="http://schemas.microsoft.com/office/powerpoint/2010/main" val="2971540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62979AC-AEA2-C63A-A9C4-F1C0B7E38CD6}"/>
              </a:ext>
            </a:extLst>
          </p:cNvPr>
          <p:cNvSpPr txBox="1"/>
          <p:nvPr/>
        </p:nvSpPr>
        <p:spPr>
          <a:xfrm>
            <a:off x="97910" y="380365"/>
            <a:ext cx="11188460" cy="6045822"/>
          </a:xfrm>
          <a:prstGeom prst="rect">
            <a:avLst/>
          </a:prstGeom>
          <a:noFill/>
        </p:spPr>
        <p:txBody>
          <a:bodyPr wrap="square">
            <a:spAutoFit/>
          </a:bodyPr>
          <a:lstStyle/>
          <a:p>
            <a:pPr algn="ctr"/>
            <a:r>
              <a:rPr lang="en" sz="2400" b="1" dirty="0">
                <a:solidFill>
                  <a:schemeClr val="tx1">
                    <a:lumMod val="95000"/>
                  </a:schemeClr>
                </a:solidFill>
                <a:latin typeface="Bookman Old Style" panose="02050604050505020204" pitchFamily="18" charset="0"/>
                <a:cs typeface="Times New Roman" panose="02020603050405020304" pitchFamily="18" charset="0"/>
              </a:rPr>
              <a:t>Literature Review</a:t>
            </a:r>
          </a:p>
          <a:p>
            <a:endParaRPr lang="en-IN" sz="1600" kern="100" dirty="0">
              <a:effectLst/>
              <a:latin typeface="Bookman Old Style" panose="02050604050505020204" pitchFamily="18" charset="0"/>
              <a:ea typeface="Calibri" panose="020F0502020204030204" pitchFamily="34" charset="0"/>
              <a:cs typeface="Times New Roman" panose="02020603050405020304" pitchFamily="18" charset="0"/>
            </a:endParaRPr>
          </a:p>
          <a:p>
            <a:endParaRPr lang="en-IN" sz="2000" kern="100" dirty="0">
              <a:effectLst/>
              <a:latin typeface="Bookman Old Style" panose="02050604050505020204" pitchFamily="18" charset="0"/>
              <a:ea typeface="Calibri" panose="020F0502020204030204" pitchFamily="34" charset="0"/>
              <a:cs typeface="Times New Roman" panose="02020603050405020304" pitchFamily="18" charset="0"/>
            </a:endParaRPr>
          </a:p>
          <a:p>
            <a:r>
              <a:rPr lang="en-IN" sz="2000" kern="100" dirty="0">
                <a:effectLst/>
                <a:latin typeface="Bookman Old Style" panose="02050604050505020204" pitchFamily="18" charset="0"/>
                <a:ea typeface="Calibri" panose="020F0502020204030204" pitchFamily="34" charset="0"/>
                <a:cs typeface="Times New Roman" panose="02020603050405020304" pitchFamily="18" charset="0"/>
              </a:rPr>
              <a:t>Facial expression detection has been a popular research topic in computer vision for many years due to its wide range of applications in psychology, human-computer interaction, and robotics. Convolutional Neural Networks (CNNs) have shown great potential in detecting facial expressions due to their ability to learn complex feature in raw data. In this literature review, we will discuss the state-of-the-art methods in facial expression detection using Deep Learning and CNNs.</a:t>
            </a:r>
          </a:p>
          <a:p>
            <a:endParaRPr lang="en" sz="1600" b="1" i="1" dirty="0">
              <a:solidFill>
                <a:schemeClr val="accent2">
                  <a:lumMod val="75000"/>
                </a:schemeClr>
              </a:solidFill>
              <a:latin typeface="Bookman Old Style" panose="02050604050505020204" pitchFamily="18" charset="0"/>
              <a:cs typeface="Times New Roman" panose="02020603050405020304" pitchFamily="18" charset="0"/>
            </a:endParaRPr>
          </a:p>
          <a:p>
            <a:endParaRPr lang="en" sz="1600" b="1" i="1" dirty="0">
              <a:solidFill>
                <a:schemeClr val="accent2">
                  <a:lumMod val="75000"/>
                </a:schemeClr>
              </a:solidFill>
              <a:latin typeface="Bookman Old Style" panose="02050604050505020204" pitchFamily="18" charset="0"/>
              <a:cs typeface="Times New Roman" panose="02020603050405020304" pitchFamily="18" charset="0"/>
            </a:endParaRPr>
          </a:p>
          <a:p>
            <a:pPr>
              <a:lnSpc>
                <a:spcPct val="107000"/>
              </a:lnSpc>
              <a:spcAft>
                <a:spcPts val="800"/>
              </a:spcAft>
            </a:pPr>
            <a:r>
              <a:rPr lang="en-IN" sz="2000" b="1" kern="100" dirty="0">
                <a:effectLst/>
                <a:latin typeface="Bookman Old Style" panose="02050604050505020204" pitchFamily="18" charset="0"/>
                <a:ea typeface="Calibri" panose="020F0502020204030204" pitchFamily="34" charset="0"/>
                <a:cs typeface="Times New Roman" panose="02020603050405020304" pitchFamily="18" charset="0"/>
              </a:rPr>
              <a:t>In 2020, Jaiswal et al.</a:t>
            </a:r>
            <a:r>
              <a:rPr lang="en-IN" sz="2000" kern="100" dirty="0">
                <a:effectLst/>
                <a:latin typeface="Bookman Old Style" panose="02050604050505020204" pitchFamily="18" charset="0"/>
                <a:ea typeface="Calibri" panose="020F0502020204030204" pitchFamily="34" charset="0"/>
                <a:cs typeface="Times New Roman" panose="02020603050405020304" pitchFamily="18" charset="0"/>
              </a:rPr>
              <a:t> proposed a CNN based Deep Learning architecture for human emotion detection. In the paper, they present a system which is capable for recognize emotion through facial expressions. The complete system consists of 3 main steps: face detection, feature extraction and emotion classification. The proposed model is evaluated on 2 different datasets Japaness Female Facial Emotion (JAFFE) and Facial emotion recognition challenge (FERC-2013). The proposed model is able to achieve an accuracy of 70.1% and 98.5% on FERC-2013 and JAFFE datasets respectively. </a:t>
            </a:r>
            <a:endParaRPr lang="en-IN" sz="2000" kern="100" dirty="0">
              <a:latin typeface="Bookman Old Style" panose="02050604050505020204" pitchFamily="18" charset="0"/>
              <a:ea typeface="Calibri" panose="020F0502020204030204" pitchFamily="34" charset="0"/>
              <a:cs typeface="Times New Roman" panose="02020603050405020304" pitchFamily="18" charset="0"/>
            </a:endParaRPr>
          </a:p>
          <a:p>
            <a:pPr>
              <a:lnSpc>
                <a:spcPct val="107000"/>
              </a:lnSpc>
              <a:spcAft>
                <a:spcPts val="800"/>
              </a:spcAft>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4049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5F331D-466D-C6F6-75B7-6F43D3132CB2}"/>
              </a:ext>
            </a:extLst>
          </p:cNvPr>
          <p:cNvSpPr txBox="1"/>
          <p:nvPr/>
        </p:nvSpPr>
        <p:spPr>
          <a:xfrm>
            <a:off x="330199" y="899758"/>
            <a:ext cx="11490961" cy="4235583"/>
          </a:xfrm>
          <a:prstGeom prst="rect">
            <a:avLst/>
          </a:prstGeom>
          <a:noFill/>
        </p:spPr>
        <p:txBody>
          <a:bodyPr wrap="square">
            <a:spAutoFit/>
          </a:bodyPr>
          <a:lstStyle/>
          <a:p>
            <a:pPr>
              <a:lnSpc>
                <a:spcPct val="107000"/>
              </a:lnSpc>
              <a:spcAft>
                <a:spcPts val="800"/>
              </a:spcAft>
            </a:pPr>
            <a:r>
              <a:rPr lang="en-IN" sz="1800" b="1" dirty="0">
                <a:effectLst/>
                <a:latin typeface="Bookman Old Style" panose="02050604050505020204" pitchFamily="18" charset="0"/>
                <a:ea typeface="Calibri" panose="020F0502020204030204" pitchFamily="34" charset="0"/>
                <a:cs typeface="Times New Roman" panose="02020603050405020304" pitchFamily="18" charset="0"/>
              </a:rPr>
              <a:t>In 2020, Singh et al.</a:t>
            </a:r>
            <a:r>
              <a:rPr lang="en-IN" sz="1800" dirty="0">
                <a:effectLst/>
                <a:latin typeface="Bookman Old Style" panose="02050604050505020204" pitchFamily="18" charset="0"/>
                <a:ea typeface="Calibri" panose="020F0502020204030204" pitchFamily="34" charset="0"/>
                <a:cs typeface="Times New Roman" panose="02020603050405020304" pitchFamily="18" charset="0"/>
              </a:rPr>
              <a:t> demonstrate the classification of Facial Expression Recognition (FER) based on static images using Convolutional Neural Networks (CNNs). In this paper, they have developed hybrid CNN model without any pre-processing or feature extraction. The proposed model is trained on FER2013 dataset and performance of the model in being evaluated on test data where the accuracy comes out to be the 61.2%. </a:t>
            </a:r>
          </a:p>
          <a:p>
            <a:pPr>
              <a:lnSpc>
                <a:spcPct val="107000"/>
              </a:lnSpc>
              <a:spcAft>
                <a:spcPts val="800"/>
              </a:spcAft>
            </a:pPr>
            <a:endParaRPr lang="en-IN" sz="1800" b="1" kern="100" dirty="0">
              <a:effectLst/>
              <a:latin typeface="Bookman Old Style" panose="02050604050505020204" pitchFamily="18" charset="0"/>
              <a:ea typeface="Calibri" panose="020F0502020204030204" pitchFamily="34" charset="0"/>
              <a:cs typeface="Times New Roman" panose="02020603050405020304" pitchFamily="18" charset="0"/>
            </a:endParaRPr>
          </a:p>
          <a:p>
            <a:pPr>
              <a:lnSpc>
                <a:spcPct val="107000"/>
              </a:lnSpc>
              <a:spcAft>
                <a:spcPts val="800"/>
              </a:spcAft>
            </a:pPr>
            <a:endParaRPr lang="en-IN" b="1" kern="100" dirty="0">
              <a:latin typeface="Bookman Old Style" panose="020506040505050202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100" dirty="0">
                <a:effectLst/>
                <a:latin typeface="Bookman Old Style" panose="02050604050505020204" pitchFamily="18" charset="0"/>
                <a:ea typeface="Calibri" panose="020F0502020204030204" pitchFamily="34" charset="0"/>
                <a:cs typeface="Times New Roman" panose="02020603050405020304" pitchFamily="18" charset="0"/>
              </a:rPr>
              <a:t>In 2022, Shubhanjay et al.</a:t>
            </a:r>
            <a:r>
              <a:rPr lang="en-IN" sz="1800" kern="100" dirty="0">
                <a:effectLst/>
                <a:latin typeface="Bookman Old Style" panose="02050604050505020204" pitchFamily="18" charset="0"/>
                <a:ea typeface="Calibri" panose="020F0502020204030204" pitchFamily="34" charset="0"/>
                <a:cs typeface="Times New Roman" panose="02020603050405020304" pitchFamily="18" charset="0"/>
              </a:rPr>
              <a:t> presented a real-time intelligent system for sentiment recognition using single standalone based CNN model. The model proposed in this paper can utilized for different tasks such as face detection, sentiment analysis, and can provide live list of probabilistic labels in real-time from a webcam feed in one blended step. The proposed model outperforms all standalone based models like VGG16, VGG19, and Efficient NetB7 by achieving an accuracy of 75.6% on FER2013 dataset, which is challenging and noisy dataset. </a:t>
            </a:r>
          </a:p>
        </p:txBody>
      </p:sp>
    </p:spTree>
    <p:extLst>
      <p:ext uri="{BB962C8B-B14F-4D97-AF65-F5344CB8AC3E}">
        <p14:creationId xmlns:p14="http://schemas.microsoft.com/office/powerpoint/2010/main" val="222100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D2C8195-00C6-08C4-34D7-BE8915DCC5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877" y="1396458"/>
            <a:ext cx="10705231" cy="5256269"/>
          </a:xfrm>
          <a:prstGeom prst="rect">
            <a:avLst/>
          </a:prstGeom>
        </p:spPr>
      </p:pic>
      <p:sp>
        <p:nvSpPr>
          <p:cNvPr id="7" name="TextBox 6">
            <a:extLst>
              <a:ext uri="{FF2B5EF4-FFF2-40B4-BE49-F238E27FC236}">
                <a16:creationId xmlns:a16="http://schemas.microsoft.com/office/drawing/2014/main" id="{8544ADF9-4E6F-1FF0-4976-2BB2A595FDA4}"/>
              </a:ext>
            </a:extLst>
          </p:cNvPr>
          <p:cNvSpPr txBox="1"/>
          <p:nvPr/>
        </p:nvSpPr>
        <p:spPr>
          <a:xfrm>
            <a:off x="2554256" y="399957"/>
            <a:ext cx="6097554" cy="830997"/>
          </a:xfrm>
          <a:prstGeom prst="rect">
            <a:avLst/>
          </a:prstGeom>
          <a:noFill/>
        </p:spPr>
        <p:txBody>
          <a:bodyPr wrap="square">
            <a:spAutoFit/>
          </a:bodyPr>
          <a:lstStyle/>
          <a:p>
            <a:pPr algn="ctr"/>
            <a:r>
              <a:rPr lang="en-US" sz="2400" b="1" dirty="0"/>
              <a:t>Methodology of Facial Emotion Recognition Using CNN</a:t>
            </a:r>
          </a:p>
        </p:txBody>
      </p:sp>
    </p:spTree>
    <p:extLst>
      <p:ext uri="{BB962C8B-B14F-4D97-AF65-F5344CB8AC3E}">
        <p14:creationId xmlns:p14="http://schemas.microsoft.com/office/powerpoint/2010/main" val="574664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569FDA-C63D-614B-0B2F-65752273CD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3527" y="1411630"/>
            <a:ext cx="8425541" cy="4811888"/>
          </a:xfrm>
          <a:prstGeom prst="rect">
            <a:avLst/>
          </a:prstGeom>
        </p:spPr>
      </p:pic>
      <p:sp>
        <p:nvSpPr>
          <p:cNvPr id="6" name="TextBox 5">
            <a:extLst>
              <a:ext uri="{FF2B5EF4-FFF2-40B4-BE49-F238E27FC236}">
                <a16:creationId xmlns:a16="http://schemas.microsoft.com/office/drawing/2014/main" id="{C131E059-A9F9-413B-6085-D6D978BFFE2B}"/>
              </a:ext>
            </a:extLst>
          </p:cNvPr>
          <p:cNvSpPr txBox="1"/>
          <p:nvPr/>
        </p:nvSpPr>
        <p:spPr>
          <a:xfrm>
            <a:off x="2600909" y="345233"/>
            <a:ext cx="6097554" cy="646331"/>
          </a:xfrm>
          <a:prstGeom prst="rect">
            <a:avLst/>
          </a:prstGeom>
          <a:noFill/>
        </p:spPr>
        <p:txBody>
          <a:bodyPr wrap="square">
            <a:spAutoFit/>
          </a:bodyPr>
          <a:lstStyle/>
          <a:p>
            <a:pPr algn="ctr"/>
            <a:r>
              <a:rPr lang="en-US" dirty="0"/>
              <a:t>Facial Expression Recognition Pipeline Using Convolutional Neural Networks (CNNs)</a:t>
            </a:r>
            <a:endParaRPr lang="en-IN" dirty="0"/>
          </a:p>
        </p:txBody>
      </p:sp>
    </p:spTree>
    <p:extLst>
      <p:ext uri="{BB962C8B-B14F-4D97-AF65-F5344CB8AC3E}">
        <p14:creationId xmlns:p14="http://schemas.microsoft.com/office/powerpoint/2010/main" val="1335792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91C053E6-999E-C84B-E4CD-8436B792FFD2}"/>
              </a:ext>
            </a:extLst>
          </p:cNvPr>
          <p:cNvSpPr txBox="1"/>
          <p:nvPr/>
        </p:nvSpPr>
        <p:spPr>
          <a:xfrm>
            <a:off x="221602" y="574635"/>
            <a:ext cx="9752821" cy="2862322"/>
          </a:xfrm>
          <a:prstGeom prst="rect">
            <a:avLst/>
          </a:prstGeom>
          <a:noFill/>
        </p:spPr>
        <p:txBody>
          <a:bodyPr wrap="square">
            <a:spAutoFit/>
          </a:bodyPr>
          <a:lstStyle/>
          <a:p>
            <a:pPr>
              <a:buNone/>
            </a:pPr>
            <a:r>
              <a:rPr lang="en-US" b="1" dirty="0"/>
              <a:t>(a) Workflow Diagram: Emotion Recognition System</a:t>
            </a:r>
          </a:p>
          <a:p>
            <a:pPr>
              <a:buNone/>
            </a:pPr>
            <a:endParaRPr lang="en-US" dirty="0"/>
          </a:p>
          <a:p>
            <a:pPr>
              <a:buNone/>
            </a:pPr>
            <a:r>
              <a:rPr lang="en-US" dirty="0"/>
              <a:t>This block diagram outlines the facial emotion recognition pipeline:</a:t>
            </a:r>
          </a:p>
          <a:p>
            <a:pPr>
              <a:buFont typeface="Arial" panose="020B0604020202020204" pitchFamily="34" charset="0"/>
              <a:buChar char="•"/>
            </a:pPr>
            <a:r>
              <a:rPr lang="en-US" dirty="0"/>
              <a:t>The system starts with an input image or video frame.</a:t>
            </a:r>
          </a:p>
          <a:p>
            <a:pPr>
              <a:buFont typeface="Arial" panose="020B0604020202020204" pitchFamily="34" charset="0"/>
              <a:buChar char="•"/>
            </a:pPr>
            <a:r>
              <a:rPr lang="en-US" dirty="0"/>
              <a:t>A CNN removes the background, isolating the face.</a:t>
            </a:r>
          </a:p>
          <a:p>
            <a:pPr>
              <a:buFont typeface="Arial" panose="020B0604020202020204" pitchFamily="34" charset="0"/>
              <a:buChar char="•"/>
            </a:pPr>
            <a:r>
              <a:rPr lang="en-US" dirty="0"/>
              <a:t>A face vector is generated to represent facial features.</a:t>
            </a:r>
          </a:p>
          <a:p>
            <a:pPr>
              <a:buFont typeface="Arial" panose="020B0604020202020204" pitchFamily="34" charset="0"/>
              <a:buChar char="•"/>
            </a:pPr>
            <a:r>
              <a:rPr lang="en-US" dirty="0"/>
              <a:t>Expression-specific features are extracted.</a:t>
            </a:r>
          </a:p>
          <a:p>
            <a:pPr>
              <a:buFont typeface="Arial" panose="020B0604020202020204" pitchFamily="34" charset="0"/>
              <a:buChar char="•"/>
            </a:pPr>
            <a:r>
              <a:rPr lang="en-US" dirty="0"/>
              <a:t>A second CNN classifies these features to detect the emotion.</a:t>
            </a:r>
          </a:p>
          <a:p>
            <a:pPr>
              <a:buFont typeface="Arial" panose="020B0604020202020204" pitchFamily="34" charset="0"/>
              <a:buChar char="•"/>
            </a:pPr>
            <a:r>
              <a:rPr lang="en-US" dirty="0"/>
              <a:t>The final output includes the identified mood (e.g., </a:t>
            </a:r>
            <a:r>
              <a:rPr lang="en-US" i="1" dirty="0"/>
              <a:t>Happy</a:t>
            </a:r>
            <a:r>
              <a:rPr lang="en-US" dirty="0"/>
              <a:t>), along with the face image.</a:t>
            </a:r>
          </a:p>
        </p:txBody>
      </p:sp>
      <p:sp>
        <p:nvSpPr>
          <p:cNvPr id="16" name="TextBox 15">
            <a:extLst>
              <a:ext uri="{FF2B5EF4-FFF2-40B4-BE49-F238E27FC236}">
                <a16:creationId xmlns:a16="http://schemas.microsoft.com/office/drawing/2014/main" id="{019281D6-9B8F-C968-52FD-F1149D0CA76B}"/>
              </a:ext>
            </a:extLst>
          </p:cNvPr>
          <p:cNvSpPr txBox="1"/>
          <p:nvPr/>
        </p:nvSpPr>
        <p:spPr>
          <a:xfrm>
            <a:off x="221602" y="3582584"/>
            <a:ext cx="10210022" cy="2585323"/>
          </a:xfrm>
          <a:prstGeom prst="rect">
            <a:avLst/>
          </a:prstGeom>
          <a:noFill/>
        </p:spPr>
        <p:txBody>
          <a:bodyPr wrap="square">
            <a:spAutoFit/>
          </a:bodyPr>
          <a:lstStyle/>
          <a:p>
            <a:pPr>
              <a:buNone/>
            </a:pPr>
            <a:r>
              <a:rPr lang="en-IN" b="1" dirty="0"/>
              <a:t>b) Facial Landmark Identification</a:t>
            </a:r>
          </a:p>
          <a:p>
            <a:pPr>
              <a:buNone/>
            </a:pPr>
            <a:endParaRPr lang="en-IN" dirty="0"/>
          </a:p>
          <a:p>
            <a:pPr>
              <a:buNone/>
            </a:pPr>
            <a:r>
              <a:rPr lang="en-IN" dirty="0"/>
              <a:t>The 3D model highlights essential facial landmarks used to compute expression vectors:</a:t>
            </a:r>
          </a:p>
          <a:p>
            <a:pPr>
              <a:buFont typeface="Arial" panose="020B0604020202020204" pitchFamily="34" charset="0"/>
              <a:buChar char="•"/>
            </a:pPr>
            <a:r>
              <a:rPr lang="en-IN" b="1" dirty="0"/>
              <a:t>Forehead</a:t>
            </a:r>
            <a:r>
              <a:rPr lang="en-IN" dirty="0"/>
              <a:t>: CF (center)</a:t>
            </a:r>
          </a:p>
          <a:p>
            <a:pPr>
              <a:buFont typeface="Arial" panose="020B0604020202020204" pitchFamily="34" charset="0"/>
              <a:buChar char="•"/>
            </a:pPr>
            <a:r>
              <a:rPr lang="en-IN" b="1" dirty="0"/>
              <a:t>Eyes</a:t>
            </a:r>
            <a:r>
              <a:rPr lang="en-IN" dirty="0"/>
              <a:t>: LE (left), RE (right)</a:t>
            </a:r>
          </a:p>
          <a:p>
            <a:pPr>
              <a:buFont typeface="Arial" panose="020B0604020202020204" pitchFamily="34" charset="0"/>
              <a:buChar char="•"/>
            </a:pPr>
            <a:r>
              <a:rPr lang="en-IN" b="1" dirty="0"/>
              <a:t>Cheekbones</a:t>
            </a:r>
            <a:r>
              <a:rPr lang="en-IN" dirty="0"/>
              <a:t>: LY (left Y-axis), RY (right Y-axis)</a:t>
            </a:r>
          </a:p>
          <a:p>
            <a:pPr>
              <a:buFont typeface="Arial" panose="020B0604020202020204" pitchFamily="34" charset="0"/>
              <a:buChar char="•"/>
            </a:pPr>
            <a:r>
              <a:rPr lang="en-IN" b="1" dirty="0"/>
              <a:t>Nose</a:t>
            </a:r>
            <a:r>
              <a:rPr lang="en-IN" dirty="0"/>
              <a:t>: CN (center), LN (left nostril), RN (right nostril)</a:t>
            </a:r>
          </a:p>
          <a:p>
            <a:pPr>
              <a:buFont typeface="Arial" panose="020B0604020202020204" pitchFamily="34" charset="0"/>
              <a:buChar char="•"/>
            </a:pPr>
            <a:r>
              <a:rPr lang="en-IN" b="1" dirty="0"/>
              <a:t>Mouth</a:t>
            </a:r>
            <a:r>
              <a:rPr lang="en-IN" dirty="0"/>
              <a:t>: LP (left corner), RP (right corner), CP (center)</a:t>
            </a:r>
          </a:p>
          <a:p>
            <a:pPr>
              <a:buFont typeface="Arial" panose="020B0604020202020204" pitchFamily="34" charset="0"/>
              <a:buChar char="•"/>
            </a:pPr>
            <a:r>
              <a:rPr lang="en-IN" b="1" dirty="0"/>
              <a:t>Chin</a:t>
            </a:r>
            <a:r>
              <a:rPr lang="en-IN" dirty="0"/>
              <a:t>: CH</a:t>
            </a:r>
          </a:p>
        </p:txBody>
      </p:sp>
    </p:spTree>
    <p:extLst>
      <p:ext uri="{BB962C8B-B14F-4D97-AF65-F5344CB8AC3E}">
        <p14:creationId xmlns:p14="http://schemas.microsoft.com/office/powerpoint/2010/main" val="1730420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A837FE-FA12-3161-A9C9-E91C5F3C1179}"/>
              </a:ext>
            </a:extLst>
          </p:cNvPr>
          <p:cNvPicPr>
            <a:picLocks noChangeAspect="1"/>
          </p:cNvPicPr>
          <p:nvPr/>
        </p:nvPicPr>
        <p:blipFill>
          <a:blip r:embed="rId2"/>
          <a:stretch>
            <a:fillRect/>
          </a:stretch>
        </p:blipFill>
        <p:spPr>
          <a:xfrm>
            <a:off x="3342640" y="846179"/>
            <a:ext cx="4053840" cy="5491480"/>
          </a:xfrm>
          <a:prstGeom prst="rect">
            <a:avLst/>
          </a:prstGeom>
        </p:spPr>
      </p:pic>
      <p:sp>
        <p:nvSpPr>
          <p:cNvPr id="5" name="Text Placeholder 4">
            <a:extLst>
              <a:ext uri="{FF2B5EF4-FFF2-40B4-BE49-F238E27FC236}">
                <a16:creationId xmlns:a16="http://schemas.microsoft.com/office/drawing/2014/main" id="{B90016F8-CB0F-66F7-2718-C051AA46466C}"/>
              </a:ext>
            </a:extLst>
          </p:cNvPr>
          <p:cNvSpPr>
            <a:spLocks noGrp="1"/>
          </p:cNvSpPr>
          <p:nvPr>
            <p:ph type="body" idx="1"/>
          </p:nvPr>
        </p:nvSpPr>
        <p:spPr>
          <a:xfrm>
            <a:off x="2729651" y="246021"/>
            <a:ext cx="8825658" cy="860400"/>
          </a:xfrm>
        </p:spPr>
        <p:txBody>
          <a:bodyPr/>
          <a:lstStyle/>
          <a:p>
            <a:r>
              <a:rPr lang="en-US" dirty="0">
                <a:solidFill>
                  <a:schemeClr val="tx1"/>
                </a:solidFill>
              </a:rPr>
              <a:t>Methodology: A Simple Process Overview</a:t>
            </a:r>
            <a:endParaRPr lang="en-IN" dirty="0">
              <a:solidFill>
                <a:schemeClr val="tx1"/>
              </a:solidFill>
            </a:endParaRPr>
          </a:p>
        </p:txBody>
      </p:sp>
    </p:spTree>
    <p:extLst>
      <p:ext uri="{BB962C8B-B14F-4D97-AF65-F5344CB8AC3E}">
        <p14:creationId xmlns:p14="http://schemas.microsoft.com/office/powerpoint/2010/main" val="3722195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C05E429-4424-8A80-9EB5-7AF0BCC88C88}"/>
              </a:ext>
            </a:extLst>
          </p:cNvPr>
          <p:cNvSpPr txBox="1"/>
          <p:nvPr/>
        </p:nvSpPr>
        <p:spPr>
          <a:xfrm>
            <a:off x="879894" y="595222"/>
            <a:ext cx="10955548" cy="4343753"/>
          </a:xfrm>
          <a:prstGeom prst="rect">
            <a:avLst/>
          </a:prstGeom>
          <a:noFill/>
        </p:spPr>
        <p:txBody>
          <a:bodyPr wrap="square">
            <a:spAutoFit/>
          </a:bodyPr>
          <a:lstStyle/>
          <a:p>
            <a:pPr algn="ctr"/>
            <a:r>
              <a:rPr lang="en" sz="3200" b="1" dirty="0">
                <a:latin typeface="Bookman Old Style" panose="02050604050505020204" pitchFamily="18" charset="0"/>
                <a:cs typeface="Times New Roman" panose="02020603050405020304" pitchFamily="18" charset="0"/>
              </a:rPr>
              <a:t>Dataset Description</a:t>
            </a:r>
          </a:p>
          <a:p>
            <a:pPr algn="ctr"/>
            <a:endParaRPr lang="en" b="1" dirty="0"/>
          </a:p>
          <a:p>
            <a:endParaRPr lang="en" sz="1800" b="1" dirty="0"/>
          </a:p>
          <a:p>
            <a:pPr>
              <a:lnSpc>
                <a:spcPct val="107000"/>
              </a:lnSpc>
              <a:spcAft>
                <a:spcPts val="800"/>
              </a:spcAft>
            </a:pPr>
            <a:r>
              <a:rPr lang="en-IN" sz="2000" i="1" kern="100" dirty="0">
                <a:effectLst/>
                <a:latin typeface="Bookman Old Style" panose="02050604050505020204" pitchFamily="18" charset="0"/>
                <a:ea typeface="Calibri" panose="020F0502020204030204" pitchFamily="34" charset="0"/>
                <a:cs typeface="Times New Roman" panose="02020603050405020304" pitchFamily="18" charset="0"/>
              </a:rPr>
              <a:t>The FER2013 dataset is a widely used dataset in the field of facial expression detection. It was introduced by Pierre-Luc Carrier and Aaron Courville in their work titled “FER2013: Facial Expression Recognition Challenge” and has since become a benchmark dataset for evaluating facial expression detection and recognition models.</a:t>
            </a:r>
          </a:p>
          <a:p>
            <a:r>
              <a:rPr lang="en-IN" sz="2000" i="1" dirty="0">
                <a:effectLst/>
                <a:latin typeface="Bookman Old Style" panose="02050604050505020204" pitchFamily="18" charset="0"/>
                <a:ea typeface="Calibri" panose="020F0502020204030204" pitchFamily="34" charset="0"/>
                <a:cs typeface="Times New Roman" panose="02020603050405020304" pitchFamily="18" charset="0"/>
              </a:rPr>
              <a:t>The FER2013 dataset consists of 35,887 grayscale images of size 48x48 pixels. The images are categorized into seven different facial expressions: anger, disgust, fear, neutral, happiness, sadness, and surprise. The dataset is relatively imbalanced with some expression class having a smaller number of samples.</a:t>
            </a:r>
            <a:endParaRPr lang="en" sz="2000" b="1" i="1" dirty="0">
              <a:latin typeface="Bookman Old Style" panose="02050604050505020204" pitchFamily="18" charset="0"/>
              <a:cs typeface="Times New Roman" panose="02020603050405020304" pitchFamily="18" charset="0"/>
            </a:endParaRPr>
          </a:p>
          <a:p>
            <a:pPr algn="ctr"/>
            <a:endParaRPr lang="en" b="1" dirty="0">
              <a:latin typeface="Bookman Old Style" panose="02050604050505020204" pitchFamily="18" charset="0"/>
            </a:endParaRPr>
          </a:p>
          <a:p>
            <a:endParaRPr lang="en-IN" dirty="0"/>
          </a:p>
        </p:txBody>
      </p:sp>
    </p:spTree>
    <p:extLst>
      <p:ext uri="{BB962C8B-B14F-4D97-AF65-F5344CB8AC3E}">
        <p14:creationId xmlns:p14="http://schemas.microsoft.com/office/powerpoint/2010/main" val="2026976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98D17-A9EA-70DF-E59E-DAAA5F3F1B8F}"/>
              </a:ext>
            </a:extLst>
          </p:cNvPr>
          <p:cNvSpPr>
            <a:spLocks noGrp="1"/>
          </p:cNvSpPr>
          <p:nvPr>
            <p:ph type="title"/>
          </p:nvPr>
        </p:nvSpPr>
        <p:spPr>
          <a:xfrm>
            <a:off x="838200" y="330619"/>
            <a:ext cx="10515600" cy="1325563"/>
          </a:xfrm>
        </p:spPr>
        <p:txBody>
          <a:bodyPr>
            <a:normAutofit/>
          </a:bodyPr>
          <a:lstStyle/>
          <a:p>
            <a:pPr algn="ctr"/>
            <a:r>
              <a:rPr lang="en-IN" sz="3200" b="1" dirty="0">
                <a:latin typeface="Bookman Old Style" panose="02050604050505020204" pitchFamily="18" charset="0"/>
                <a:cs typeface="Times New Roman" panose="02020603050405020304" pitchFamily="18" charset="0"/>
              </a:rPr>
              <a:t>Dataset Exploration and Visualization</a:t>
            </a:r>
          </a:p>
        </p:txBody>
      </p:sp>
      <p:sp>
        <p:nvSpPr>
          <p:cNvPr id="3" name="Content Placeholder 2">
            <a:extLst>
              <a:ext uri="{FF2B5EF4-FFF2-40B4-BE49-F238E27FC236}">
                <a16:creationId xmlns:a16="http://schemas.microsoft.com/office/drawing/2014/main" id="{0CC53A91-5A5A-DD38-F7BB-B193AB05B1EF}"/>
              </a:ext>
            </a:extLst>
          </p:cNvPr>
          <p:cNvSpPr>
            <a:spLocks noGrp="1"/>
          </p:cNvSpPr>
          <p:nvPr>
            <p:ph sz="half" idx="1"/>
          </p:nvPr>
        </p:nvSpPr>
        <p:spPr>
          <a:xfrm>
            <a:off x="958101" y="2375858"/>
            <a:ext cx="4895055" cy="3124201"/>
          </a:xfrm>
        </p:spPr>
        <p:txBody>
          <a:bodyPr>
            <a:normAutofit/>
          </a:bodyPr>
          <a:lstStyle/>
          <a:p>
            <a:pPr marL="0" indent="0">
              <a:buNone/>
            </a:pPr>
            <a:r>
              <a:rPr lang="en-IN" sz="2000" i="1" dirty="0">
                <a:latin typeface="Bookman Old Style" panose="02050604050505020204" pitchFamily="18" charset="0"/>
                <a:cs typeface="Times New Roman" panose="02020603050405020304" pitchFamily="18" charset="0"/>
              </a:rPr>
              <a:t>From this count plot, we can observe that the dataset is quite imbalanced, as for some emotions we have greater number of images such as happiness and sadness whereas for some emotions we have lesser number of images like disgust and fear.</a:t>
            </a:r>
          </a:p>
        </p:txBody>
      </p:sp>
      <p:pic>
        <p:nvPicPr>
          <p:cNvPr id="5" name="Content Placeholder 4">
            <a:extLst>
              <a:ext uri="{FF2B5EF4-FFF2-40B4-BE49-F238E27FC236}">
                <a16:creationId xmlns:a16="http://schemas.microsoft.com/office/drawing/2014/main" id="{E1EE6F35-ABFA-AA44-2244-4650B1AC00E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981246" y="2375858"/>
            <a:ext cx="4395788" cy="2515642"/>
          </a:xfrm>
          <a:prstGeom prst="rect">
            <a:avLst/>
          </a:prstGeom>
        </p:spPr>
      </p:pic>
    </p:spTree>
    <p:extLst>
      <p:ext uri="{BB962C8B-B14F-4D97-AF65-F5344CB8AC3E}">
        <p14:creationId xmlns:p14="http://schemas.microsoft.com/office/powerpoint/2010/main" val="2203323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DC616-7559-7178-CA85-E1297AFA3C74}"/>
              </a:ext>
            </a:extLst>
          </p:cNvPr>
          <p:cNvSpPr>
            <a:spLocks noGrp="1"/>
          </p:cNvSpPr>
          <p:nvPr>
            <p:ph type="ctrTitle"/>
          </p:nvPr>
        </p:nvSpPr>
        <p:spPr>
          <a:xfrm>
            <a:off x="388189" y="-44314"/>
            <a:ext cx="9144000" cy="810374"/>
          </a:xfrm>
        </p:spPr>
        <p:txBody>
          <a:bodyPr>
            <a:normAutofit/>
          </a:bodyPr>
          <a:lstStyle/>
          <a:p>
            <a:r>
              <a:rPr lang="en-IN" sz="2400" b="1" dirty="0">
                <a:latin typeface="Bookman Old Style" panose="02050604050505020204" pitchFamily="18" charset="0"/>
                <a:cs typeface="Times New Roman" panose="02020603050405020304" pitchFamily="18" charset="0"/>
              </a:rPr>
              <a:t>Data Pre-processing</a:t>
            </a:r>
          </a:p>
        </p:txBody>
      </p:sp>
      <p:sp>
        <p:nvSpPr>
          <p:cNvPr id="3" name="Subtitle 2">
            <a:extLst>
              <a:ext uri="{FF2B5EF4-FFF2-40B4-BE49-F238E27FC236}">
                <a16:creationId xmlns:a16="http://schemas.microsoft.com/office/drawing/2014/main" id="{9B2817CE-9764-6B65-C03B-476541D36AF8}"/>
              </a:ext>
            </a:extLst>
          </p:cNvPr>
          <p:cNvSpPr>
            <a:spLocks noGrp="1"/>
          </p:cNvSpPr>
          <p:nvPr>
            <p:ph type="subTitle" idx="1"/>
          </p:nvPr>
        </p:nvSpPr>
        <p:spPr>
          <a:xfrm>
            <a:off x="117865" y="766060"/>
            <a:ext cx="11619781" cy="4821656"/>
          </a:xfrm>
        </p:spPr>
        <p:txBody>
          <a:bodyPr>
            <a:normAutofit/>
          </a:bodyPr>
          <a:lstStyle/>
          <a:p>
            <a:pPr algn="l">
              <a:lnSpc>
                <a:spcPct val="107000"/>
              </a:lnSpc>
              <a:spcAft>
                <a:spcPts val="800"/>
              </a:spcAf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The data is processed using three methods: (I) Balancing the Data, (II) Scaling Images, and (III) One-Hot Encoding. This pre-processing will help in preparation of data and provides additional advantage when detection mechanism is applied.</a:t>
            </a:r>
            <a:endParaRPr lang="en-IN" sz="1800" kern="100" dirty="0">
              <a:solidFill>
                <a:schemeClr val="tx1"/>
              </a:solidFill>
              <a:latin typeface="Bookman Old Style" panose="02050604050505020204" pitchFamily="18" charset="0"/>
              <a:ea typeface="Calibri" panose="020F0502020204030204" pitchFamily="34" charset="0"/>
              <a:cs typeface="Times New Roman" panose="02020603050405020304" pitchFamily="18" charset="0"/>
            </a:endParaRPr>
          </a:p>
          <a:p>
            <a:pPr marL="342900" indent="-342900" algn="l">
              <a:lnSpc>
                <a:spcPct val="107000"/>
              </a:lnSpc>
              <a:spcAft>
                <a:spcPts val="800"/>
              </a:spcAft>
              <a:buFont typeface="+mj-lt"/>
              <a:buAutoNum type="arabicPeriod"/>
            </a:pPr>
            <a:r>
              <a:rPr lang="en-IN" sz="1800" b="1"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Balancing the Data</a:t>
            </a: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 Since the dataset is imbalance, we are using Random Over Sampling technique to balance the data. Random Oversampling is a technique used to address class imbalance in a dataset by artificially increasing the number of minority class. The effect of applying Random Oversampling is depicted in the figure </a:t>
            </a:r>
            <a:r>
              <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below:</a:t>
            </a:r>
          </a:p>
          <a:p>
            <a:pPr algn="l"/>
            <a:endParaRPr lang="en-IN" dirty="0"/>
          </a:p>
        </p:txBody>
      </p:sp>
      <p:pic>
        <p:nvPicPr>
          <p:cNvPr id="5" name="Picture 4">
            <a:extLst>
              <a:ext uri="{FF2B5EF4-FFF2-40B4-BE49-F238E27FC236}">
                <a16:creationId xmlns:a16="http://schemas.microsoft.com/office/drawing/2014/main" id="{24D2A0AC-2D8E-BBC0-B28D-A4A243791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042" y="3712586"/>
            <a:ext cx="4630824" cy="2800200"/>
          </a:xfrm>
          <a:prstGeom prst="rect">
            <a:avLst/>
          </a:prstGeom>
        </p:spPr>
      </p:pic>
      <p:pic>
        <p:nvPicPr>
          <p:cNvPr id="7" name="Picture 6">
            <a:extLst>
              <a:ext uri="{FF2B5EF4-FFF2-40B4-BE49-F238E27FC236}">
                <a16:creationId xmlns:a16="http://schemas.microsoft.com/office/drawing/2014/main" id="{7409C1FC-8A1D-F82C-4EF7-98B98BB0BE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7756" y="3721917"/>
            <a:ext cx="5684202" cy="2860957"/>
          </a:xfrm>
          <a:prstGeom prst="rect">
            <a:avLst/>
          </a:prstGeom>
        </p:spPr>
      </p:pic>
    </p:spTree>
    <p:extLst>
      <p:ext uri="{BB962C8B-B14F-4D97-AF65-F5344CB8AC3E}">
        <p14:creationId xmlns:p14="http://schemas.microsoft.com/office/powerpoint/2010/main" val="5851388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DC616-7559-7178-CA85-E1297AFA3C74}"/>
              </a:ext>
            </a:extLst>
          </p:cNvPr>
          <p:cNvSpPr>
            <a:spLocks noGrp="1"/>
          </p:cNvSpPr>
          <p:nvPr>
            <p:ph type="ctrTitle"/>
          </p:nvPr>
        </p:nvSpPr>
        <p:spPr>
          <a:xfrm>
            <a:off x="388189" y="78402"/>
            <a:ext cx="9144000" cy="810374"/>
          </a:xfrm>
        </p:spPr>
        <p:txBody>
          <a:bodyPr>
            <a:normAutofit/>
          </a:bodyPr>
          <a:lstStyle/>
          <a:p>
            <a:r>
              <a:rPr lang="en-IN" sz="2800" b="1" dirty="0">
                <a:latin typeface="Times New Roman" panose="02020603050405020304" pitchFamily="18" charset="0"/>
                <a:cs typeface="Times New Roman" panose="02020603050405020304" pitchFamily="18" charset="0"/>
              </a:rPr>
              <a:t>Data Pre-processing</a:t>
            </a:r>
          </a:p>
        </p:txBody>
      </p:sp>
      <p:sp>
        <p:nvSpPr>
          <p:cNvPr id="3" name="Subtitle 2">
            <a:extLst>
              <a:ext uri="{FF2B5EF4-FFF2-40B4-BE49-F238E27FC236}">
                <a16:creationId xmlns:a16="http://schemas.microsoft.com/office/drawing/2014/main" id="{9B2817CE-9764-6B65-C03B-476541D36AF8}"/>
              </a:ext>
            </a:extLst>
          </p:cNvPr>
          <p:cNvSpPr>
            <a:spLocks noGrp="1"/>
          </p:cNvSpPr>
          <p:nvPr>
            <p:ph type="subTitle" idx="1"/>
          </p:nvPr>
        </p:nvSpPr>
        <p:spPr>
          <a:xfrm>
            <a:off x="220238" y="1018172"/>
            <a:ext cx="11619781" cy="4821656"/>
          </a:xfrm>
        </p:spPr>
        <p:txBody>
          <a:bodyPr>
            <a:normAutofit fontScale="85000" lnSpcReduction="20000"/>
          </a:bodyPr>
          <a:lstStyle/>
          <a:p>
            <a:pPr algn="l">
              <a:lnSpc>
                <a:spcPct val="107000"/>
              </a:lnSpc>
              <a:spcAft>
                <a:spcPts val="800"/>
              </a:spcAft>
            </a:pPr>
            <a:r>
              <a:rPr lang="en-IN" sz="21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2. Scaling Images: It involves transforming the pixel values of the image to a common scale, typically ranging from 0 to 1. This normalization process ensures that the input data has a consistent range and helps in reducing the impact of varying illumination conditions and enhancing the model’s ability to learn discriminative features.</a:t>
            </a:r>
          </a:p>
          <a:p>
            <a:pPr algn="l">
              <a:lnSpc>
                <a:spcPct val="107000"/>
              </a:lnSpc>
              <a:spcAft>
                <a:spcPts val="800"/>
              </a:spcAft>
            </a:pPr>
            <a:endParaRPr lang="en-IN" sz="1800" kern="100" dirty="0">
              <a:latin typeface="Times New Roman" panose="02020603050405020304" pitchFamily="18" charset="0"/>
              <a:ea typeface="Calibri" panose="020F0502020204030204" pitchFamily="34" charset="0"/>
              <a:cs typeface="Times New Roman" panose="02020603050405020304" pitchFamily="18" charset="0"/>
            </a:endParaRPr>
          </a:p>
          <a:p>
            <a:pPr algn="l">
              <a:lnSpc>
                <a:spcPct val="107000"/>
              </a:lnSpc>
              <a:spcAft>
                <a:spcPts val="800"/>
              </a:spcAft>
            </a:pPr>
            <a:endParaRPr lang="en-IN" sz="1800" kern="100" dirty="0">
              <a:latin typeface="Times New Roman" panose="02020603050405020304" pitchFamily="18" charset="0"/>
              <a:ea typeface="Calibri" panose="020F0502020204030204" pitchFamily="34" charset="0"/>
              <a:cs typeface="Times New Roman" panose="02020603050405020304" pitchFamily="18" charset="0"/>
            </a:endParaRPr>
          </a:p>
          <a:p>
            <a:pPr algn="l">
              <a:lnSpc>
                <a:spcPct val="107000"/>
              </a:lnSpc>
              <a:spcAft>
                <a:spcPts val="800"/>
              </a:spcAft>
            </a:pPr>
            <a:endParaRPr lang="en-IN" sz="1800" kern="100" dirty="0">
              <a:latin typeface="Times New Roman" panose="02020603050405020304" pitchFamily="18" charset="0"/>
              <a:ea typeface="Calibri" panose="020F0502020204030204" pitchFamily="34" charset="0"/>
              <a:cs typeface="Times New Roman" panose="02020603050405020304" pitchFamily="18" charset="0"/>
            </a:endParaRPr>
          </a:p>
          <a:p>
            <a:pPr algn="l">
              <a:lnSpc>
                <a:spcPct val="107000"/>
              </a:lnSpc>
              <a:spcAft>
                <a:spcPts val="800"/>
              </a:spcAft>
            </a:pPr>
            <a:endParaRPr lang="en-IN" sz="1800" kern="100" dirty="0">
              <a:latin typeface="Times New Roman" panose="02020603050405020304" pitchFamily="18" charset="0"/>
              <a:ea typeface="Calibri" panose="020F0502020204030204" pitchFamily="34" charset="0"/>
              <a:cs typeface="Times New Roman" panose="02020603050405020304" pitchFamily="18" charset="0"/>
            </a:endParaRPr>
          </a:p>
          <a:p>
            <a:pPr algn="l">
              <a:lnSpc>
                <a:spcPct val="107000"/>
              </a:lnSpc>
              <a:spcAft>
                <a:spcPts val="800"/>
              </a:spcAft>
            </a:pPr>
            <a:endParaRPr lang="en-IN" sz="1800" kern="100" dirty="0">
              <a:latin typeface="Times New Roman" panose="02020603050405020304" pitchFamily="18" charset="0"/>
              <a:ea typeface="Calibri" panose="020F0502020204030204" pitchFamily="34" charset="0"/>
              <a:cs typeface="Times New Roman" panose="02020603050405020304" pitchFamily="18" charset="0"/>
            </a:endParaRPr>
          </a:p>
          <a:p>
            <a:pPr algn="l">
              <a:lnSpc>
                <a:spcPct val="107000"/>
              </a:lnSpc>
              <a:spcAft>
                <a:spcPts val="800"/>
              </a:spcAft>
            </a:pPr>
            <a:r>
              <a:rPr lang="en-IN" sz="2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 One-Hot Encoding: </a:t>
            </a:r>
            <a:r>
              <a:rPr lang="en-IN" sz="2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One-hot encoding is a process that converts categorical variables, such as facial expression labels, binary vector representation. Each class is represented by a binary vector of the same length as the number of classes, where only one element is “hot” (1) and all others are “cold” (0). The hot element indicates the class of the facial expression.</a:t>
            </a:r>
            <a:r>
              <a:rPr lang="en-IN" sz="2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algn="l"/>
            <a:endParaRPr lang="en-IN" dirty="0"/>
          </a:p>
        </p:txBody>
      </p:sp>
      <p:pic>
        <p:nvPicPr>
          <p:cNvPr id="5" name="Picture 4">
            <a:extLst>
              <a:ext uri="{FF2B5EF4-FFF2-40B4-BE49-F238E27FC236}">
                <a16:creationId xmlns:a16="http://schemas.microsoft.com/office/drawing/2014/main" id="{FC2A2B18-F3D1-A5CC-955F-9FBB314A21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7445" y="2124739"/>
            <a:ext cx="5912767" cy="2122098"/>
          </a:xfrm>
          <a:prstGeom prst="rect">
            <a:avLst/>
          </a:prstGeom>
        </p:spPr>
      </p:pic>
    </p:spTree>
    <p:extLst>
      <p:ext uri="{BB962C8B-B14F-4D97-AF65-F5344CB8AC3E}">
        <p14:creationId xmlns:p14="http://schemas.microsoft.com/office/powerpoint/2010/main" val="500723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019E5CC-6258-8B51-939C-8B5F311FD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330" y="1268963"/>
            <a:ext cx="10671399" cy="5377385"/>
          </a:xfrm>
          <a:prstGeom prst="rect">
            <a:avLst/>
          </a:prstGeom>
        </p:spPr>
      </p:pic>
      <p:sp>
        <p:nvSpPr>
          <p:cNvPr id="9" name="TextBox 8">
            <a:extLst>
              <a:ext uri="{FF2B5EF4-FFF2-40B4-BE49-F238E27FC236}">
                <a16:creationId xmlns:a16="http://schemas.microsoft.com/office/drawing/2014/main" id="{8C2C1E15-6A6D-B349-69F8-11C21823BFB6}"/>
              </a:ext>
            </a:extLst>
          </p:cNvPr>
          <p:cNvSpPr txBox="1"/>
          <p:nvPr/>
        </p:nvSpPr>
        <p:spPr>
          <a:xfrm>
            <a:off x="2942824" y="211652"/>
            <a:ext cx="6097554" cy="830997"/>
          </a:xfrm>
          <a:prstGeom prst="rect">
            <a:avLst/>
          </a:prstGeom>
          <a:noFill/>
        </p:spPr>
        <p:txBody>
          <a:bodyPr wrap="square">
            <a:spAutoFit/>
          </a:bodyPr>
          <a:lstStyle/>
          <a:p>
            <a:pPr algn="ctr"/>
            <a:r>
              <a:rPr lang="en" sz="2400" b="1" dirty="0">
                <a:latin typeface="Times New Roman" panose="02020603050405020304" pitchFamily="18" charset="0"/>
                <a:ea typeface="Arial"/>
                <a:cs typeface="Times New Roman" panose="02020603050405020304" pitchFamily="18" charset="0"/>
                <a:sym typeface="Arial"/>
              </a:rPr>
              <a:t>Convolution Neural Networks (CNNs) Architecture for Facial Expression Detection </a:t>
            </a:r>
            <a:endParaRPr lang="en-IN" sz="2400" dirty="0"/>
          </a:p>
        </p:txBody>
      </p:sp>
    </p:spTree>
    <p:extLst>
      <p:ext uri="{BB962C8B-B14F-4D97-AF65-F5344CB8AC3E}">
        <p14:creationId xmlns:p14="http://schemas.microsoft.com/office/powerpoint/2010/main" val="2865803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2A5E22F3-D9BD-48A5-B012-FDD735638D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9822" y="711924"/>
            <a:ext cx="3829860" cy="5882019"/>
          </a:xfrm>
          <a:prstGeom prst="rect">
            <a:avLst/>
          </a:prstGeom>
        </p:spPr>
      </p:pic>
      <p:sp>
        <p:nvSpPr>
          <p:cNvPr id="19" name="TextBox 18">
            <a:extLst>
              <a:ext uri="{FF2B5EF4-FFF2-40B4-BE49-F238E27FC236}">
                <a16:creationId xmlns:a16="http://schemas.microsoft.com/office/drawing/2014/main" id="{054253A6-19E5-98C7-6BC1-7ECB2CF5575B}"/>
              </a:ext>
            </a:extLst>
          </p:cNvPr>
          <p:cNvSpPr txBox="1"/>
          <p:nvPr/>
        </p:nvSpPr>
        <p:spPr>
          <a:xfrm>
            <a:off x="2918149" y="127149"/>
            <a:ext cx="6097554" cy="584775"/>
          </a:xfrm>
          <a:prstGeom prst="rect">
            <a:avLst/>
          </a:prstGeom>
          <a:noFill/>
        </p:spPr>
        <p:txBody>
          <a:bodyPr wrap="square">
            <a:spAutoFit/>
          </a:bodyPr>
          <a:lstStyle/>
          <a:p>
            <a:pPr algn="ctr"/>
            <a:r>
              <a:rPr lang="en" sz="1600" b="1" dirty="0">
                <a:latin typeface="Bookman Old Style" panose="02050604050505020204" pitchFamily="18" charset="0"/>
                <a:ea typeface="Arial"/>
                <a:cs typeface="Times New Roman" panose="02020603050405020304" pitchFamily="18" charset="0"/>
                <a:sym typeface="Arial"/>
              </a:rPr>
              <a:t>Convolution Neural Networks (CNNs) Architecture for Facial Expression Detection </a:t>
            </a:r>
            <a:endParaRPr lang="en-IN" sz="1600" dirty="0">
              <a:latin typeface="Bookman Old Style" panose="02050604050505020204" pitchFamily="18" charset="0"/>
            </a:endParaRPr>
          </a:p>
        </p:txBody>
      </p:sp>
    </p:spTree>
    <p:extLst>
      <p:ext uri="{BB962C8B-B14F-4D97-AF65-F5344CB8AC3E}">
        <p14:creationId xmlns:p14="http://schemas.microsoft.com/office/powerpoint/2010/main" val="3972727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A1610-B69E-B816-28F5-4362960FBA03}"/>
              </a:ext>
            </a:extLst>
          </p:cNvPr>
          <p:cNvSpPr>
            <a:spLocks noGrp="1"/>
          </p:cNvSpPr>
          <p:nvPr>
            <p:ph type="title"/>
          </p:nvPr>
        </p:nvSpPr>
        <p:spPr>
          <a:xfrm>
            <a:off x="838200" y="365125"/>
            <a:ext cx="10515600" cy="790815"/>
          </a:xfrm>
        </p:spPr>
        <p:txBody>
          <a:bodyPr>
            <a:normAutofit/>
          </a:bodyPr>
          <a:lstStyle/>
          <a:p>
            <a:pPr algn="ctr"/>
            <a:r>
              <a:rPr lang="en-IN" sz="2800" dirty="0">
                <a:latin typeface="Bookman Old Style" panose="02050604050505020204" pitchFamily="18" charset="0"/>
                <a:cs typeface="Times New Roman" panose="02020603050405020304" pitchFamily="18" charset="0"/>
              </a:rPr>
              <a:t>Summary of Proposed CNN Architecture</a:t>
            </a:r>
          </a:p>
        </p:txBody>
      </p:sp>
      <p:pic>
        <p:nvPicPr>
          <p:cNvPr id="9" name="Content Placeholder 8">
            <a:extLst>
              <a:ext uri="{FF2B5EF4-FFF2-40B4-BE49-F238E27FC236}">
                <a16:creationId xmlns:a16="http://schemas.microsoft.com/office/drawing/2014/main" id="{FFFCF76F-B02D-309C-12C0-9C80DB5456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30537" y="1035697"/>
            <a:ext cx="4530925" cy="5527464"/>
          </a:xfrm>
        </p:spPr>
      </p:pic>
    </p:spTree>
    <p:extLst>
      <p:ext uri="{BB962C8B-B14F-4D97-AF65-F5344CB8AC3E}">
        <p14:creationId xmlns:p14="http://schemas.microsoft.com/office/powerpoint/2010/main" val="3999370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9B074F-120C-5CFA-90BC-D0B361AEA74B}"/>
              </a:ext>
            </a:extLst>
          </p:cNvPr>
          <p:cNvSpPr txBox="1"/>
          <p:nvPr/>
        </p:nvSpPr>
        <p:spPr>
          <a:xfrm>
            <a:off x="279743" y="219738"/>
            <a:ext cx="10938293" cy="1200329"/>
          </a:xfrm>
          <a:prstGeom prst="rect">
            <a:avLst/>
          </a:prstGeom>
          <a:noFill/>
        </p:spPr>
        <p:txBody>
          <a:bodyPr wrap="square">
            <a:spAutoFit/>
          </a:bodyPr>
          <a:lstStyle/>
          <a:p>
            <a:pPr algn="ctr"/>
            <a:endParaRPr lang="en" sz="1600" b="1" dirty="0">
              <a:latin typeface="Bookman Old Style" panose="02050604050505020204" pitchFamily="18" charset="0"/>
              <a:ea typeface="Arial"/>
              <a:cs typeface="Times New Roman" panose="02020603050405020304" pitchFamily="18" charset="0"/>
              <a:sym typeface="Arial"/>
            </a:endParaRPr>
          </a:p>
          <a:p>
            <a:pPr algn="ctr"/>
            <a:r>
              <a:rPr lang="en" sz="2400" b="1" dirty="0">
                <a:latin typeface="Bookman Old Style" panose="02050604050505020204" pitchFamily="18" charset="0"/>
                <a:ea typeface="Arial"/>
                <a:cs typeface="Times New Roman" panose="02020603050405020304" pitchFamily="18" charset="0"/>
                <a:sym typeface="Arial"/>
              </a:rPr>
              <a:t>Performance Metrics</a:t>
            </a:r>
          </a:p>
          <a:p>
            <a:pPr marL="457200" indent="-323850">
              <a:buClr>
                <a:srgbClr val="000000"/>
              </a:buClr>
              <a:buSzPts val="1500"/>
              <a:buFont typeface="Arial"/>
              <a:buAutoNum type="arabicPeriod"/>
            </a:pPr>
            <a:endParaRPr lang="en-US" sz="1400" dirty="0">
              <a:solidFill>
                <a:srgbClr val="000000"/>
              </a:solidFill>
              <a:latin typeface="Bookman Old Style" panose="02050604050505020204" pitchFamily="18" charset="0"/>
              <a:ea typeface="Arial"/>
              <a:cs typeface="Arial"/>
              <a:sym typeface="Arial"/>
            </a:endParaRPr>
          </a:p>
          <a:p>
            <a:endParaRPr lang="en-IN" dirty="0"/>
          </a:p>
        </p:txBody>
      </p:sp>
      <p:graphicFrame>
        <p:nvGraphicFramePr>
          <p:cNvPr id="2" name="Table 1">
            <a:extLst>
              <a:ext uri="{FF2B5EF4-FFF2-40B4-BE49-F238E27FC236}">
                <a16:creationId xmlns:a16="http://schemas.microsoft.com/office/drawing/2014/main" id="{194FF0A5-9DD7-B6C2-0BB6-4C34193A9AC9}"/>
              </a:ext>
            </a:extLst>
          </p:cNvPr>
          <p:cNvGraphicFramePr>
            <a:graphicFrameLocks noGrp="1"/>
          </p:cNvGraphicFramePr>
          <p:nvPr>
            <p:extLst>
              <p:ext uri="{D42A27DB-BD31-4B8C-83A1-F6EECF244321}">
                <p14:modId xmlns:p14="http://schemas.microsoft.com/office/powerpoint/2010/main" val="3249464539"/>
              </p:ext>
            </p:extLst>
          </p:nvPr>
        </p:nvGraphicFramePr>
        <p:xfrm>
          <a:off x="1362269" y="1296956"/>
          <a:ext cx="8910735" cy="4730618"/>
        </p:xfrm>
        <a:graphic>
          <a:graphicData uri="http://schemas.openxmlformats.org/drawingml/2006/table">
            <a:tbl>
              <a:tblPr>
                <a:tableStyleId>{3C2FFA5D-87B4-456A-9821-1D502468CF0F}</a:tableStyleId>
              </a:tblPr>
              <a:tblGrid>
                <a:gridCol w="2970245">
                  <a:extLst>
                    <a:ext uri="{9D8B030D-6E8A-4147-A177-3AD203B41FA5}">
                      <a16:colId xmlns:a16="http://schemas.microsoft.com/office/drawing/2014/main" val="4244071626"/>
                    </a:ext>
                  </a:extLst>
                </a:gridCol>
                <a:gridCol w="2970245">
                  <a:extLst>
                    <a:ext uri="{9D8B030D-6E8A-4147-A177-3AD203B41FA5}">
                      <a16:colId xmlns:a16="http://schemas.microsoft.com/office/drawing/2014/main" val="2576043183"/>
                    </a:ext>
                  </a:extLst>
                </a:gridCol>
                <a:gridCol w="2970245">
                  <a:extLst>
                    <a:ext uri="{9D8B030D-6E8A-4147-A177-3AD203B41FA5}">
                      <a16:colId xmlns:a16="http://schemas.microsoft.com/office/drawing/2014/main" val="3624546052"/>
                    </a:ext>
                  </a:extLst>
                </a:gridCol>
              </a:tblGrid>
              <a:tr h="344045">
                <a:tc>
                  <a:txBody>
                    <a:bodyPr/>
                    <a:lstStyle/>
                    <a:p>
                      <a:r>
                        <a:rPr lang="en-IN" sz="1500" b="1" dirty="0"/>
                        <a:t>Metric</a:t>
                      </a:r>
                      <a:endParaRPr lang="en-IN" sz="1500" dirty="0"/>
                    </a:p>
                  </a:txBody>
                  <a:tcPr marL="76287" marR="76287" marT="38143" marB="38143" anchor="ctr"/>
                </a:tc>
                <a:tc>
                  <a:txBody>
                    <a:bodyPr/>
                    <a:lstStyle/>
                    <a:p>
                      <a:r>
                        <a:rPr lang="en-IN" sz="1500" b="1" dirty="0"/>
                        <a:t>Score (%)</a:t>
                      </a:r>
                      <a:endParaRPr lang="en-IN" sz="1500" dirty="0"/>
                    </a:p>
                  </a:txBody>
                  <a:tcPr marL="76287" marR="76287" marT="38143" marB="38143" anchor="ctr"/>
                </a:tc>
                <a:tc>
                  <a:txBody>
                    <a:bodyPr/>
                    <a:lstStyle/>
                    <a:p>
                      <a:r>
                        <a:rPr lang="en-IN" sz="1500" b="1" dirty="0"/>
                        <a:t>Definition</a:t>
                      </a:r>
                      <a:endParaRPr lang="en-IN" sz="1500" dirty="0"/>
                    </a:p>
                  </a:txBody>
                  <a:tcPr marL="76287" marR="76287" marT="38143" marB="38143" anchor="ctr"/>
                </a:tc>
                <a:extLst>
                  <a:ext uri="{0D108BD9-81ED-4DB2-BD59-A6C34878D82A}">
                    <a16:rowId xmlns:a16="http://schemas.microsoft.com/office/drawing/2014/main" val="3397521091"/>
                  </a:ext>
                </a:extLst>
              </a:tr>
              <a:tr h="860113">
                <a:tc>
                  <a:txBody>
                    <a:bodyPr/>
                    <a:lstStyle/>
                    <a:p>
                      <a:r>
                        <a:rPr lang="en-IN" sz="1500" b="1" dirty="0"/>
                        <a:t>Accuracy</a:t>
                      </a:r>
                      <a:endParaRPr lang="en-IN" sz="1500" dirty="0"/>
                    </a:p>
                  </a:txBody>
                  <a:tcPr marL="76287" marR="76287" marT="38143" marB="38143" anchor="ctr"/>
                </a:tc>
                <a:tc>
                  <a:txBody>
                    <a:bodyPr/>
                    <a:lstStyle/>
                    <a:p>
                      <a:r>
                        <a:rPr lang="en-IN" sz="1500" b="1" dirty="0"/>
                        <a:t>81.39</a:t>
                      </a:r>
                      <a:endParaRPr lang="en-IN" sz="1500" dirty="0"/>
                    </a:p>
                  </a:txBody>
                  <a:tcPr marL="76287" marR="76287" marT="38143" marB="38143" anchor="ctr"/>
                </a:tc>
                <a:tc>
                  <a:txBody>
                    <a:bodyPr/>
                    <a:lstStyle/>
                    <a:p>
                      <a:r>
                        <a:rPr lang="en-US" sz="1500" dirty="0"/>
                        <a:t>Proportion of correctly classified instances over total instances</a:t>
                      </a:r>
                    </a:p>
                  </a:txBody>
                  <a:tcPr marL="76287" marR="76287" marT="38143" marB="38143" anchor="ctr"/>
                </a:tc>
                <a:extLst>
                  <a:ext uri="{0D108BD9-81ED-4DB2-BD59-A6C34878D82A}">
                    <a16:rowId xmlns:a16="http://schemas.microsoft.com/office/drawing/2014/main" val="1012010633"/>
                  </a:ext>
                </a:extLst>
              </a:tr>
              <a:tr h="602078">
                <a:tc>
                  <a:txBody>
                    <a:bodyPr/>
                    <a:lstStyle/>
                    <a:p>
                      <a:r>
                        <a:rPr lang="en-IN" sz="1500" b="1" dirty="0"/>
                        <a:t>Precision</a:t>
                      </a:r>
                      <a:endParaRPr lang="en-IN" sz="1500" dirty="0"/>
                    </a:p>
                  </a:txBody>
                  <a:tcPr marL="76287" marR="76287" marT="38143" marB="38143" anchor="ctr"/>
                </a:tc>
                <a:tc>
                  <a:txBody>
                    <a:bodyPr/>
                    <a:lstStyle/>
                    <a:p>
                      <a:r>
                        <a:rPr lang="en-IN" sz="1500" b="1" dirty="0"/>
                        <a:t>81.20</a:t>
                      </a:r>
                      <a:endParaRPr lang="en-IN" sz="1500" dirty="0"/>
                    </a:p>
                  </a:txBody>
                  <a:tcPr marL="76287" marR="76287" marT="38143" marB="38143" anchor="ctr"/>
                </a:tc>
                <a:tc>
                  <a:txBody>
                    <a:bodyPr/>
                    <a:lstStyle/>
                    <a:p>
                      <a:r>
                        <a:rPr lang="en-IN" sz="1500" dirty="0"/>
                        <a:t>True Positives / (True Positives + False Positives)</a:t>
                      </a:r>
                    </a:p>
                  </a:txBody>
                  <a:tcPr marL="76287" marR="76287" marT="38143" marB="38143" anchor="ctr"/>
                </a:tc>
                <a:extLst>
                  <a:ext uri="{0D108BD9-81ED-4DB2-BD59-A6C34878D82A}">
                    <a16:rowId xmlns:a16="http://schemas.microsoft.com/office/drawing/2014/main" val="3430097304"/>
                  </a:ext>
                </a:extLst>
              </a:tr>
              <a:tr h="860113">
                <a:tc>
                  <a:txBody>
                    <a:bodyPr/>
                    <a:lstStyle/>
                    <a:p>
                      <a:r>
                        <a:rPr lang="en-IN" sz="1500" b="1" dirty="0"/>
                        <a:t>Recall (Sensitivity)</a:t>
                      </a:r>
                      <a:endParaRPr lang="en-IN" sz="1500" dirty="0"/>
                    </a:p>
                  </a:txBody>
                  <a:tcPr marL="76287" marR="76287" marT="38143" marB="38143" anchor="ctr"/>
                </a:tc>
                <a:tc>
                  <a:txBody>
                    <a:bodyPr/>
                    <a:lstStyle/>
                    <a:p>
                      <a:r>
                        <a:rPr lang="en-IN" sz="1400" b="1" dirty="0"/>
                        <a:t>82.00</a:t>
                      </a:r>
                      <a:endParaRPr lang="en-IN" sz="1500" dirty="0"/>
                    </a:p>
                  </a:txBody>
                  <a:tcPr marL="76287" marR="76287" marT="38143" marB="38143" anchor="ctr"/>
                </a:tc>
                <a:tc>
                  <a:txBody>
                    <a:bodyPr/>
                    <a:lstStyle/>
                    <a:p>
                      <a:r>
                        <a:rPr lang="en-IN" sz="1500" dirty="0"/>
                        <a:t>True Positives / (True Positives + False Negatives)</a:t>
                      </a:r>
                    </a:p>
                  </a:txBody>
                  <a:tcPr marL="76287" marR="76287" marT="38143" marB="38143" anchor="ctr"/>
                </a:tc>
                <a:extLst>
                  <a:ext uri="{0D108BD9-81ED-4DB2-BD59-A6C34878D82A}">
                    <a16:rowId xmlns:a16="http://schemas.microsoft.com/office/drawing/2014/main" val="2784072283"/>
                  </a:ext>
                </a:extLst>
              </a:tr>
              <a:tr h="602078">
                <a:tc>
                  <a:txBody>
                    <a:bodyPr/>
                    <a:lstStyle/>
                    <a:p>
                      <a:r>
                        <a:rPr lang="en-IN" sz="1500" b="1" dirty="0"/>
                        <a:t>F1-Score</a:t>
                      </a:r>
                      <a:endParaRPr lang="en-IN" sz="1500" dirty="0"/>
                    </a:p>
                  </a:txBody>
                  <a:tcPr marL="76287" marR="76287" marT="38143" marB="38143" anchor="ctr"/>
                </a:tc>
                <a:tc>
                  <a:txBody>
                    <a:bodyPr/>
                    <a:lstStyle/>
                    <a:p>
                      <a:r>
                        <a:rPr lang="en-IN" sz="1500" b="1" dirty="0"/>
                        <a:t>81.80</a:t>
                      </a:r>
                      <a:endParaRPr lang="en-IN" sz="1500" dirty="0"/>
                    </a:p>
                  </a:txBody>
                  <a:tcPr marL="76287" marR="76287" marT="38143" marB="38143" anchor="ctr"/>
                </a:tc>
                <a:tc>
                  <a:txBody>
                    <a:bodyPr/>
                    <a:lstStyle/>
                    <a:p>
                      <a:r>
                        <a:rPr lang="en-US" sz="1500" dirty="0"/>
                        <a:t>Harmonic mean of Precision and Recall</a:t>
                      </a:r>
                    </a:p>
                  </a:txBody>
                  <a:tcPr marL="76287" marR="76287" marT="38143" marB="38143" anchor="ctr"/>
                </a:tc>
                <a:extLst>
                  <a:ext uri="{0D108BD9-81ED-4DB2-BD59-A6C34878D82A}">
                    <a16:rowId xmlns:a16="http://schemas.microsoft.com/office/drawing/2014/main" val="1178967033"/>
                  </a:ext>
                </a:extLst>
              </a:tr>
              <a:tr h="602078">
                <a:tc>
                  <a:txBody>
                    <a:bodyPr/>
                    <a:lstStyle/>
                    <a:p>
                      <a:r>
                        <a:rPr lang="en-IN" sz="1500" b="1" dirty="0"/>
                        <a:t>Macro Average</a:t>
                      </a:r>
                      <a:endParaRPr lang="en-IN" sz="1500" dirty="0"/>
                    </a:p>
                  </a:txBody>
                  <a:tcPr marL="76287" marR="76287" marT="38143" marB="38143" anchor="ctr"/>
                </a:tc>
                <a:tc>
                  <a:txBody>
                    <a:bodyPr/>
                    <a:lstStyle/>
                    <a:p>
                      <a:r>
                        <a:rPr lang="en-IN" sz="1500" dirty="0"/>
                        <a:t>Not specified</a:t>
                      </a:r>
                    </a:p>
                  </a:txBody>
                  <a:tcPr marL="76287" marR="76287" marT="38143" marB="38143" anchor="ctr"/>
                </a:tc>
                <a:tc>
                  <a:txBody>
                    <a:bodyPr/>
                    <a:lstStyle/>
                    <a:p>
                      <a:r>
                        <a:rPr lang="en-US" sz="1500" dirty="0"/>
                        <a:t>Average across all classes (equal weight)</a:t>
                      </a:r>
                    </a:p>
                  </a:txBody>
                  <a:tcPr marL="76287" marR="76287" marT="38143" marB="38143" anchor="ctr"/>
                </a:tc>
                <a:extLst>
                  <a:ext uri="{0D108BD9-81ED-4DB2-BD59-A6C34878D82A}">
                    <a16:rowId xmlns:a16="http://schemas.microsoft.com/office/drawing/2014/main" val="3485494376"/>
                  </a:ext>
                </a:extLst>
              </a:tr>
              <a:tr h="860113">
                <a:tc>
                  <a:txBody>
                    <a:bodyPr/>
                    <a:lstStyle/>
                    <a:p>
                      <a:r>
                        <a:rPr lang="en-IN" sz="1500" b="1" dirty="0"/>
                        <a:t>Weighted Average</a:t>
                      </a:r>
                      <a:endParaRPr lang="en-IN" sz="1500" dirty="0"/>
                    </a:p>
                  </a:txBody>
                  <a:tcPr marL="76287" marR="76287" marT="38143" marB="38143" anchor="ctr"/>
                </a:tc>
                <a:tc>
                  <a:txBody>
                    <a:bodyPr/>
                    <a:lstStyle/>
                    <a:p>
                      <a:r>
                        <a:rPr lang="en-IN" sz="1500" dirty="0"/>
                        <a:t>Not specified</a:t>
                      </a:r>
                    </a:p>
                  </a:txBody>
                  <a:tcPr marL="76287" marR="76287" marT="38143" marB="38143" anchor="ctr"/>
                </a:tc>
                <a:tc>
                  <a:txBody>
                    <a:bodyPr/>
                    <a:lstStyle/>
                    <a:p>
                      <a:r>
                        <a:rPr lang="en-US" sz="1500" dirty="0"/>
                        <a:t>Average across all classes (weighted by support)</a:t>
                      </a:r>
                    </a:p>
                  </a:txBody>
                  <a:tcPr marL="76287" marR="76287" marT="38143" marB="38143" anchor="ctr"/>
                </a:tc>
                <a:extLst>
                  <a:ext uri="{0D108BD9-81ED-4DB2-BD59-A6C34878D82A}">
                    <a16:rowId xmlns:a16="http://schemas.microsoft.com/office/drawing/2014/main" val="1032891140"/>
                  </a:ext>
                </a:extLst>
              </a:tr>
            </a:tbl>
          </a:graphicData>
        </a:graphic>
      </p:graphicFrame>
    </p:spTree>
    <p:extLst>
      <p:ext uri="{BB962C8B-B14F-4D97-AF65-F5344CB8AC3E}">
        <p14:creationId xmlns:p14="http://schemas.microsoft.com/office/powerpoint/2010/main" val="3016977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522CA-0973-5285-AEFF-9B1630B20E24}"/>
              </a:ext>
            </a:extLst>
          </p:cNvPr>
          <p:cNvSpPr>
            <a:spLocks noGrp="1"/>
          </p:cNvSpPr>
          <p:nvPr>
            <p:ph type="title"/>
          </p:nvPr>
        </p:nvSpPr>
        <p:spPr>
          <a:xfrm>
            <a:off x="124467" y="-107830"/>
            <a:ext cx="5633049" cy="1130060"/>
          </a:xfrm>
        </p:spPr>
        <p:txBody>
          <a:bodyPr>
            <a:normAutofit/>
          </a:bodyPr>
          <a:lstStyle/>
          <a:p>
            <a:pPr algn="ctr"/>
            <a:r>
              <a:rPr lang="en-IN" sz="2000" b="1" dirty="0">
                <a:latin typeface="Bookman Old Style" panose="02050604050505020204" pitchFamily="18" charset="0"/>
                <a:cs typeface="Times New Roman" panose="02020603050405020304" pitchFamily="18" charset="0"/>
              </a:rPr>
              <a:t>   Analysis of Accuracy Graph</a:t>
            </a:r>
          </a:p>
        </p:txBody>
      </p:sp>
      <p:pic>
        <p:nvPicPr>
          <p:cNvPr id="8" name="Content Placeholder 7">
            <a:extLst>
              <a:ext uri="{FF2B5EF4-FFF2-40B4-BE49-F238E27FC236}">
                <a16:creationId xmlns:a16="http://schemas.microsoft.com/office/drawing/2014/main" id="{34A8828F-6B36-64C1-8A04-D491236AF9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09875" y="1774792"/>
            <a:ext cx="5195888" cy="3289753"/>
          </a:xfrm>
        </p:spPr>
      </p:pic>
      <p:sp>
        <p:nvSpPr>
          <p:cNvPr id="4" name="Text Placeholder 3">
            <a:extLst>
              <a:ext uri="{FF2B5EF4-FFF2-40B4-BE49-F238E27FC236}">
                <a16:creationId xmlns:a16="http://schemas.microsoft.com/office/drawing/2014/main" id="{0D9C19B8-594C-5A44-D19A-1BB05BFDE300}"/>
              </a:ext>
            </a:extLst>
          </p:cNvPr>
          <p:cNvSpPr>
            <a:spLocks noGrp="1"/>
          </p:cNvSpPr>
          <p:nvPr>
            <p:ph type="body" sz="half" idx="2"/>
          </p:nvPr>
        </p:nvSpPr>
        <p:spPr>
          <a:xfrm>
            <a:off x="417061" y="1348273"/>
            <a:ext cx="4704420" cy="4343400"/>
          </a:xfrm>
        </p:spPr>
        <p:txBody>
          <a:bodyPr>
            <a:normAutofit fontScale="25000" lnSpcReduction="20000"/>
          </a:bodyPr>
          <a:lstStyle/>
          <a:p>
            <a:pPr marL="342900" lvl="0" indent="-342900" algn="l">
              <a:lnSpc>
                <a:spcPct val="107000"/>
              </a:lnSpc>
              <a:buFont typeface="Symbol" panose="05050102010706020507" pitchFamily="18" charset="2"/>
              <a:buChar char=""/>
            </a:pPr>
            <a:r>
              <a:rPr lang="en-IN" sz="7200" kern="100" dirty="0">
                <a:effectLst/>
                <a:latin typeface="Bookman Old Style" panose="02050604050505020204" pitchFamily="18" charset="0"/>
                <a:ea typeface="Calibri" panose="020F0502020204030204" pitchFamily="34" charset="0"/>
                <a:cs typeface="Times New Roman" panose="02020603050405020304" pitchFamily="18" charset="0"/>
              </a:rPr>
              <a:t>The accuracy graph displays the trend of the model’s accuracy on training and validation data over epochs or iterations.</a:t>
            </a:r>
          </a:p>
          <a:p>
            <a:pPr marL="342900" lvl="0" indent="-342900" algn="l">
              <a:lnSpc>
                <a:spcPct val="107000"/>
              </a:lnSpc>
              <a:buFont typeface="Symbol" panose="05050102010706020507" pitchFamily="18" charset="2"/>
              <a:buChar char=""/>
            </a:pPr>
            <a:r>
              <a:rPr lang="en-IN" sz="7200" kern="100" dirty="0">
                <a:effectLst/>
                <a:latin typeface="Bookman Old Style" panose="02050604050505020204" pitchFamily="18" charset="0"/>
                <a:ea typeface="Calibri" panose="020F0502020204030204" pitchFamily="34" charset="0"/>
                <a:cs typeface="Times New Roman" panose="02020603050405020304" pitchFamily="18" charset="0"/>
              </a:rPr>
              <a:t>It provides an understanding of how well the model is able to correctly classify facial expressions as the training progresses.</a:t>
            </a:r>
          </a:p>
          <a:p>
            <a:pPr marL="342900" lvl="0" indent="-342900" algn="l">
              <a:lnSpc>
                <a:spcPct val="107000"/>
              </a:lnSpc>
              <a:spcAft>
                <a:spcPts val="800"/>
              </a:spcAft>
              <a:buFont typeface="Symbol" panose="05050102010706020507" pitchFamily="18" charset="2"/>
              <a:buChar char=""/>
            </a:pPr>
            <a:r>
              <a:rPr lang="en-IN" sz="7200" kern="100" dirty="0">
                <a:effectLst/>
                <a:latin typeface="Bookman Old Style" panose="02050604050505020204" pitchFamily="18" charset="0"/>
                <a:ea typeface="Calibri" panose="020F0502020204030204" pitchFamily="34" charset="0"/>
                <a:cs typeface="Times New Roman" panose="02020603050405020304" pitchFamily="18" charset="0"/>
              </a:rPr>
              <a:t>We can observe in our graph that both the training and validation accuracy is improving with no. of epochs and the distance between both the line is very small, which indicates that the model is neither overfitting nor underfitting and the final accuracy score on validation data comes out to be the 81%, which is better than most the existing state-of-the-art results.</a:t>
            </a:r>
          </a:p>
          <a:p>
            <a:endParaRPr lang="en-IN" sz="800" dirty="0"/>
          </a:p>
        </p:txBody>
      </p:sp>
    </p:spTree>
    <p:extLst>
      <p:ext uri="{BB962C8B-B14F-4D97-AF65-F5344CB8AC3E}">
        <p14:creationId xmlns:p14="http://schemas.microsoft.com/office/powerpoint/2010/main" val="2561329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522CA-0973-5285-AEFF-9B1630B20E24}"/>
              </a:ext>
            </a:extLst>
          </p:cNvPr>
          <p:cNvSpPr>
            <a:spLocks noGrp="1"/>
          </p:cNvSpPr>
          <p:nvPr>
            <p:ph type="title"/>
          </p:nvPr>
        </p:nvSpPr>
        <p:spPr>
          <a:xfrm>
            <a:off x="667403" y="360197"/>
            <a:ext cx="5262113" cy="1026543"/>
          </a:xfrm>
        </p:spPr>
        <p:txBody>
          <a:bodyPr>
            <a:normAutofit/>
          </a:bodyPr>
          <a:lstStyle/>
          <a:p>
            <a:r>
              <a:rPr lang="en-IN" sz="2800" b="1" dirty="0">
                <a:latin typeface="Times New Roman" panose="02020603050405020304" pitchFamily="18" charset="0"/>
                <a:cs typeface="Times New Roman" panose="02020603050405020304" pitchFamily="18" charset="0"/>
              </a:rPr>
              <a:t>Analysis of Loss Graph</a:t>
            </a:r>
          </a:p>
        </p:txBody>
      </p:sp>
      <p:pic>
        <p:nvPicPr>
          <p:cNvPr id="7" name="Content Placeholder 6">
            <a:extLst>
              <a:ext uri="{FF2B5EF4-FFF2-40B4-BE49-F238E27FC236}">
                <a16:creationId xmlns:a16="http://schemas.microsoft.com/office/drawing/2014/main" id="{28CF541D-FC89-B26E-4D83-F91CB59994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39084" y="2215942"/>
            <a:ext cx="5195888" cy="3289753"/>
          </a:xfrm>
        </p:spPr>
      </p:pic>
      <p:sp>
        <p:nvSpPr>
          <p:cNvPr id="4" name="Text Placeholder 3">
            <a:extLst>
              <a:ext uri="{FF2B5EF4-FFF2-40B4-BE49-F238E27FC236}">
                <a16:creationId xmlns:a16="http://schemas.microsoft.com/office/drawing/2014/main" id="{0D9C19B8-594C-5A44-D19A-1BB05BFDE300}"/>
              </a:ext>
            </a:extLst>
          </p:cNvPr>
          <p:cNvSpPr>
            <a:spLocks noGrp="1"/>
          </p:cNvSpPr>
          <p:nvPr>
            <p:ph type="body" sz="half" idx="2"/>
          </p:nvPr>
        </p:nvSpPr>
        <p:spPr>
          <a:xfrm>
            <a:off x="396815" y="1677837"/>
            <a:ext cx="4902828" cy="4722963"/>
          </a:xfrm>
        </p:spPr>
        <p:txBody>
          <a:bodyPr>
            <a:normAutofit lnSpcReduction="10000"/>
          </a:bodyPr>
          <a:lstStyle/>
          <a:p>
            <a:pPr marL="342900" lvl="0" indent="-342900" algn="l">
              <a:lnSpc>
                <a:spcPct val="107000"/>
              </a:lnSpc>
              <a:buFont typeface="Symbol" panose="05050102010706020507" pitchFamily="18" charset="2"/>
              <a:buChar char=""/>
            </a:pPr>
            <a:r>
              <a:rPr lang="en-IN" sz="1800" kern="100" dirty="0">
                <a:effectLst/>
                <a:latin typeface="Bookman Old Style" panose="02050604050505020204" pitchFamily="18" charset="0"/>
                <a:ea typeface="Calibri" panose="020F0502020204030204" pitchFamily="34" charset="0"/>
                <a:cs typeface="Times New Roman" panose="02020603050405020304" pitchFamily="18" charset="0"/>
              </a:rPr>
              <a:t>The loss graph illustrates the trend of the model’s loss (e.g., categorical cross-entropy loss) on the training and validation data over epochs or iterations.</a:t>
            </a:r>
          </a:p>
          <a:p>
            <a:pPr marL="342900" lvl="0" indent="-342900" algn="l">
              <a:lnSpc>
                <a:spcPct val="107000"/>
              </a:lnSpc>
              <a:buFont typeface="Symbol" panose="05050102010706020507" pitchFamily="18" charset="2"/>
              <a:buChar char=""/>
            </a:pPr>
            <a:r>
              <a:rPr lang="en-IN" sz="1800" kern="100" dirty="0">
                <a:effectLst/>
                <a:latin typeface="Bookman Old Style" panose="02050604050505020204" pitchFamily="18" charset="0"/>
                <a:ea typeface="Calibri" panose="020F0502020204030204" pitchFamily="34" charset="0"/>
                <a:cs typeface="Times New Roman" panose="02020603050405020304" pitchFamily="18" charset="0"/>
              </a:rPr>
              <a:t>It represents how well the model is minimizing the discrepancy between predicted and true class probabilities.</a:t>
            </a:r>
          </a:p>
          <a:p>
            <a:pPr marL="342900" lvl="0" indent="-342900" algn="l">
              <a:lnSpc>
                <a:spcPct val="107000"/>
              </a:lnSpc>
              <a:spcAft>
                <a:spcPts val="800"/>
              </a:spcAft>
              <a:buFont typeface="Symbol" panose="05050102010706020507" pitchFamily="18" charset="2"/>
              <a:buChar char=""/>
            </a:pPr>
            <a:r>
              <a:rPr lang="en-IN" sz="1800" kern="100" dirty="0">
                <a:effectLst/>
                <a:latin typeface="Bookman Old Style" panose="02050604050505020204" pitchFamily="18" charset="0"/>
                <a:ea typeface="Calibri" panose="020F0502020204030204" pitchFamily="34" charset="0"/>
                <a:cs typeface="Times New Roman" panose="02020603050405020304" pitchFamily="18" charset="0"/>
              </a:rPr>
              <a:t>Similar to the accuracy graph, both the training and validation graph decreases initially and reach a stable or minimal value. Final loss on validation data is coming out to be 0.603, which is less than 1 and better than the existing state-of-the-art results.</a:t>
            </a:r>
          </a:p>
          <a:p>
            <a:endParaRPr lang="en-IN" dirty="0"/>
          </a:p>
        </p:txBody>
      </p:sp>
    </p:spTree>
    <p:extLst>
      <p:ext uri="{BB962C8B-B14F-4D97-AF65-F5344CB8AC3E}">
        <p14:creationId xmlns:p14="http://schemas.microsoft.com/office/powerpoint/2010/main" val="322276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522CA-0973-5285-AEFF-9B1630B20E24}"/>
              </a:ext>
            </a:extLst>
          </p:cNvPr>
          <p:cNvSpPr>
            <a:spLocks noGrp="1"/>
          </p:cNvSpPr>
          <p:nvPr>
            <p:ph type="title"/>
          </p:nvPr>
        </p:nvSpPr>
        <p:spPr>
          <a:xfrm>
            <a:off x="396815" y="258792"/>
            <a:ext cx="6763110" cy="983412"/>
          </a:xfrm>
        </p:spPr>
        <p:txBody>
          <a:bodyPr>
            <a:normAutofit/>
          </a:bodyPr>
          <a:lstStyle/>
          <a:p>
            <a:r>
              <a:rPr lang="en-IN" sz="2800" b="1" dirty="0">
                <a:latin typeface="Bookman Old Style" panose="02050604050505020204" pitchFamily="18" charset="0"/>
                <a:cs typeface="Times New Roman" panose="02020603050405020304" pitchFamily="18" charset="0"/>
              </a:rPr>
              <a:t>Analysis of Confusion Matrix</a:t>
            </a:r>
          </a:p>
        </p:txBody>
      </p:sp>
      <p:pic>
        <p:nvPicPr>
          <p:cNvPr id="8" name="Content Placeholder 7">
            <a:extLst>
              <a:ext uri="{FF2B5EF4-FFF2-40B4-BE49-F238E27FC236}">
                <a16:creationId xmlns:a16="http://schemas.microsoft.com/office/drawing/2014/main" id="{E6D6EB4D-7069-DFB2-B15A-984BD6206E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98637" y="2510657"/>
            <a:ext cx="5195888" cy="3435331"/>
          </a:xfrm>
        </p:spPr>
      </p:pic>
      <p:sp>
        <p:nvSpPr>
          <p:cNvPr id="4" name="Text Placeholder 3">
            <a:extLst>
              <a:ext uri="{FF2B5EF4-FFF2-40B4-BE49-F238E27FC236}">
                <a16:creationId xmlns:a16="http://schemas.microsoft.com/office/drawing/2014/main" id="{0D9C19B8-594C-5A44-D19A-1BB05BFDE300}"/>
              </a:ext>
            </a:extLst>
          </p:cNvPr>
          <p:cNvSpPr>
            <a:spLocks noGrp="1"/>
          </p:cNvSpPr>
          <p:nvPr>
            <p:ph type="body" sz="half" idx="2"/>
          </p:nvPr>
        </p:nvSpPr>
        <p:spPr>
          <a:xfrm>
            <a:off x="396815" y="1677838"/>
            <a:ext cx="5400136" cy="4921370"/>
          </a:xfrm>
        </p:spPr>
        <p:txBody>
          <a:bodyPr>
            <a:normAutofit fontScale="92500" lnSpcReduction="20000"/>
          </a:bodyPr>
          <a:lstStyle/>
          <a:p>
            <a:pPr marL="342900" indent="-342900" algn="l">
              <a:buFont typeface="Wingdings" panose="05000000000000000000" pitchFamily="2" charset="2"/>
              <a:buChar char="ü"/>
            </a:pPr>
            <a:r>
              <a:rPr lang="en-IN" sz="1900" i="1" kern="100" dirty="0">
                <a:effectLst/>
                <a:latin typeface="Bookman Old Style" panose="02050604050505020204" pitchFamily="18" charset="0"/>
                <a:ea typeface="Calibri" panose="020F0502020204030204" pitchFamily="34" charset="0"/>
                <a:cs typeface="Times New Roman" panose="02020603050405020304" pitchFamily="18" charset="0"/>
              </a:rPr>
              <a:t>Finally, the confusion matrix is plotted that summarizes the performance of a facial expression detection system by displaying the counts of true positives (TP), true negatives (TN), false positives (FP), false negatives (FN) for each emotion class. It is a useful tool which helps in understanding the type of errors made by the classification model.</a:t>
            </a:r>
          </a:p>
          <a:p>
            <a:pPr algn="l"/>
            <a:endParaRPr lang="en-IN" sz="1900" i="1" kern="100" dirty="0">
              <a:effectLst/>
              <a:latin typeface="Bookman Old Style" panose="02050604050505020204" pitchFamily="18" charset="0"/>
              <a:ea typeface="Calibri" panose="020F0502020204030204" pitchFamily="34" charset="0"/>
              <a:cs typeface="Times New Roman" panose="02020603050405020304" pitchFamily="18" charset="0"/>
            </a:endParaRPr>
          </a:p>
          <a:p>
            <a:pPr marL="342900" indent="-342900" algn="l">
              <a:buFont typeface="Wingdings" panose="05000000000000000000" pitchFamily="2" charset="2"/>
              <a:buChar char="ü"/>
            </a:pPr>
            <a:r>
              <a:rPr lang="en-IN" sz="1900" i="1" kern="100" dirty="0">
                <a:effectLst/>
                <a:latin typeface="Bookman Old Style" panose="02050604050505020204" pitchFamily="18" charset="0"/>
                <a:ea typeface="Calibri" panose="020F0502020204030204" pitchFamily="34" charset="0"/>
                <a:cs typeface="Times New Roman" panose="02020603050405020304" pitchFamily="18" charset="0"/>
              </a:rPr>
              <a:t>From the graph, we can observe that maximum corrections we have done for Disgust expression, followed by Angry, Surprise, and Fear class whereas lesser correction for Happiness, Sad, and Neutral. Overall, the confusion matrix provides a comprehensive overview of the model’s predictions and errors for each emotion class, helping identify areas of improvement and guide further optimization efforts.</a:t>
            </a:r>
          </a:p>
          <a:p>
            <a:endParaRPr lang="en-IN" dirty="0"/>
          </a:p>
        </p:txBody>
      </p:sp>
    </p:spTree>
    <p:extLst>
      <p:ext uri="{BB962C8B-B14F-4D97-AF65-F5344CB8AC3E}">
        <p14:creationId xmlns:p14="http://schemas.microsoft.com/office/powerpoint/2010/main" val="2546161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C05E429-4424-8A80-9EB5-7AF0BCC88C88}"/>
              </a:ext>
            </a:extLst>
          </p:cNvPr>
          <p:cNvSpPr txBox="1"/>
          <p:nvPr/>
        </p:nvSpPr>
        <p:spPr>
          <a:xfrm>
            <a:off x="879894" y="595222"/>
            <a:ext cx="10955548" cy="5109091"/>
          </a:xfrm>
          <a:prstGeom prst="rect">
            <a:avLst/>
          </a:prstGeom>
          <a:noFill/>
        </p:spPr>
        <p:txBody>
          <a:bodyPr wrap="square">
            <a:spAutoFit/>
          </a:bodyPr>
          <a:lstStyle/>
          <a:p>
            <a:pPr algn="ctr"/>
            <a:r>
              <a:rPr lang="en" sz="2800" b="1" dirty="0">
                <a:latin typeface="Bookman Old Style" panose="02050604050505020204" pitchFamily="18" charset="0"/>
                <a:cs typeface="Times New Roman" panose="02020603050405020304" pitchFamily="18" charset="0"/>
              </a:rPr>
              <a:t>Uniqueness of Proposed Model</a:t>
            </a:r>
          </a:p>
          <a:p>
            <a:pPr algn="ctr"/>
            <a:endParaRPr lang="en" b="1" dirty="0"/>
          </a:p>
          <a:p>
            <a:endParaRPr lang="en" sz="2800" b="1" dirty="0"/>
          </a:p>
          <a:p>
            <a:pPr marL="342900" indent="-342900">
              <a:buAutoNum type="arabicPeriod"/>
            </a:pPr>
            <a:r>
              <a:rPr lang="en" i="1" dirty="0">
                <a:latin typeface="Bookman Old Style" panose="02050604050505020204" pitchFamily="18" charset="0"/>
                <a:cs typeface="Times New Roman" panose="02020603050405020304" pitchFamily="18" charset="0"/>
              </a:rPr>
              <a:t>Firstly, Random Over Sampling is performed to balance the dataset. Since, the data is imbalanced I have performed Random Over Sampling to make sure that every class should have equal number of images.</a:t>
            </a:r>
          </a:p>
          <a:p>
            <a:pPr marL="342900" indent="-342900">
              <a:buAutoNum type="arabicPeriod"/>
            </a:pPr>
            <a:endParaRPr lang="en" i="1" dirty="0">
              <a:latin typeface="Bookman Old Style" panose="02050604050505020204" pitchFamily="18" charset="0"/>
              <a:cs typeface="Times New Roman" panose="02020603050405020304" pitchFamily="18" charset="0"/>
            </a:endParaRPr>
          </a:p>
          <a:p>
            <a:pPr marL="342900" indent="-342900">
              <a:buFontTx/>
              <a:buAutoNum type="arabicPeriod"/>
            </a:pPr>
            <a:r>
              <a:rPr lang="en" i="1" dirty="0">
                <a:latin typeface="Bookman Old Style" panose="02050604050505020204" pitchFamily="18" charset="0"/>
                <a:cs typeface="Times New Roman" panose="02020603050405020304" pitchFamily="18" charset="0"/>
              </a:rPr>
              <a:t>Secondly, I have added Batch Normalization before Activation function which can </a:t>
            </a:r>
            <a:r>
              <a:rPr lang="en-IN" i="1" kern="100" dirty="0">
                <a:effectLst/>
                <a:latin typeface="Bookman Old Style" panose="02050604050505020204" pitchFamily="18" charset="0"/>
                <a:ea typeface="Calibri" panose="020F0502020204030204" pitchFamily="34" charset="0"/>
                <a:cs typeface="Times New Roman" panose="02020603050405020304" pitchFamily="18" charset="0"/>
              </a:rPr>
              <a:t>improve learning speed and stability, reduced internal covariate shift, regularization effect, and allowing the activation function to operate in its linear range. These advantages contribute to more effective and efficient training of deep convolution neural networks.</a:t>
            </a:r>
          </a:p>
          <a:p>
            <a:pPr marL="342900" indent="-342900">
              <a:buFontTx/>
              <a:buAutoNum type="arabicPeriod"/>
            </a:pPr>
            <a:endParaRPr lang="en-IN" i="1" kern="100" dirty="0">
              <a:effectLst/>
              <a:latin typeface="Bookman Old Style" panose="02050604050505020204" pitchFamily="18" charset="0"/>
              <a:ea typeface="Calibri" panose="020F0502020204030204" pitchFamily="34" charset="0"/>
              <a:cs typeface="Times New Roman" panose="02020603050405020304" pitchFamily="18" charset="0"/>
            </a:endParaRPr>
          </a:p>
          <a:p>
            <a:pPr marL="342900" indent="-342900">
              <a:buFontTx/>
              <a:buAutoNum type="arabicPeriod"/>
            </a:pPr>
            <a:r>
              <a:rPr lang="en-IN" i="1" kern="100" dirty="0">
                <a:latin typeface="Bookman Old Style" panose="02050604050505020204" pitchFamily="18" charset="0"/>
                <a:ea typeface="Calibri" panose="020F0502020204030204" pitchFamily="34" charset="0"/>
                <a:cs typeface="Times New Roman" panose="02020603050405020304" pitchFamily="18" charset="0"/>
              </a:rPr>
              <a:t>And lastly, adding a mixture of</a:t>
            </a:r>
            <a:r>
              <a:rPr lang="en-IN" i="1" dirty="0">
                <a:effectLst/>
                <a:latin typeface="Bookman Old Style" panose="02050604050505020204" pitchFamily="18" charset="0"/>
                <a:ea typeface="Calibri" panose="020F0502020204030204" pitchFamily="34" charset="0"/>
                <a:cs typeface="Times New Roman" panose="02020603050405020304" pitchFamily="18" charset="0"/>
              </a:rPr>
              <a:t> “valid” and “same” padding in CNNs offers benefits such as efficient resource utilization, control over network capacity, better information flow, robustness to input variations, and diverse feature representations. </a:t>
            </a:r>
            <a:endParaRPr lang="en-IN" i="1" kern="100" dirty="0">
              <a:effectLst/>
              <a:latin typeface="Bookman Old Style" panose="02050604050505020204" pitchFamily="18" charset="0"/>
              <a:ea typeface="Calibri" panose="020F0502020204030204" pitchFamily="34" charset="0"/>
              <a:cs typeface="Times New Roman" panose="02020603050405020304" pitchFamily="18" charset="0"/>
            </a:endParaRPr>
          </a:p>
          <a:p>
            <a:pPr marL="342900" indent="-342900">
              <a:buAutoNum type="arabicPeriod"/>
            </a:pPr>
            <a:endParaRPr lang="en" dirty="0"/>
          </a:p>
          <a:p>
            <a:endParaRPr lang="en-IN" dirty="0"/>
          </a:p>
        </p:txBody>
      </p:sp>
    </p:spTree>
    <p:extLst>
      <p:ext uri="{BB962C8B-B14F-4D97-AF65-F5344CB8AC3E}">
        <p14:creationId xmlns:p14="http://schemas.microsoft.com/office/powerpoint/2010/main" val="1341985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C05E429-4424-8A80-9EB5-7AF0BCC88C88}"/>
              </a:ext>
            </a:extLst>
          </p:cNvPr>
          <p:cNvSpPr txBox="1"/>
          <p:nvPr/>
        </p:nvSpPr>
        <p:spPr>
          <a:xfrm>
            <a:off x="879894" y="595222"/>
            <a:ext cx="10955548" cy="6112058"/>
          </a:xfrm>
          <a:prstGeom prst="rect">
            <a:avLst/>
          </a:prstGeom>
          <a:noFill/>
        </p:spPr>
        <p:txBody>
          <a:bodyPr wrap="square">
            <a:spAutoFit/>
          </a:bodyPr>
          <a:lstStyle/>
          <a:p>
            <a:pPr algn="ctr"/>
            <a:r>
              <a:rPr lang="en" sz="2800" b="1" dirty="0">
                <a:latin typeface="Bookman Old Style" panose="02050604050505020204" pitchFamily="18" charset="0"/>
                <a:cs typeface="Times New Roman" panose="02020603050405020304" pitchFamily="18" charset="0"/>
              </a:rPr>
              <a:t>Conclusion</a:t>
            </a:r>
          </a:p>
          <a:p>
            <a:pPr algn="ctr"/>
            <a:endParaRPr lang="en" b="1" dirty="0"/>
          </a:p>
          <a:p>
            <a:endParaRPr lang="en" sz="1800" b="1" dirty="0"/>
          </a:p>
          <a:p>
            <a:pPr>
              <a:lnSpc>
                <a:spcPct val="107000"/>
              </a:lnSpc>
              <a:spcAft>
                <a:spcPts val="800"/>
              </a:spcAft>
            </a:pPr>
            <a:r>
              <a:rPr lang="en-IN" i="1" kern="100" dirty="0">
                <a:effectLst/>
                <a:latin typeface="Bookman Old Style" panose="02050604050505020204" pitchFamily="18" charset="0"/>
                <a:ea typeface="Calibri" panose="020F0502020204030204" pitchFamily="34" charset="0"/>
                <a:cs typeface="Times New Roman" panose="02020603050405020304" pitchFamily="18" charset="0"/>
              </a:rPr>
              <a:t>In conclusion, this project has explored the use of Convolution Neural Networks (CNNs) for facial expression detection, demonstrating their effectiveness in accurately recognizing and classifying facial expressions. By leveraging the power of deep learning and CNNs, the proposed facial expression detection system has shown promising results in capturing and analysing facial features to predict emotions with high accuracy.</a:t>
            </a:r>
          </a:p>
          <a:p>
            <a:pPr>
              <a:lnSpc>
                <a:spcPct val="107000"/>
              </a:lnSpc>
              <a:spcAft>
                <a:spcPts val="800"/>
              </a:spcAft>
            </a:pPr>
            <a:r>
              <a:rPr lang="en-IN" i="1" kern="100" dirty="0">
                <a:effectLst/>
                <a:latin typeface="Bookman Old Style" panose="02050604050505020204" pitchFamily="18" charset="0"/>
                <a:ea typeface="Calibri" panose="020F0502020204030204" pitchFamily="34" charset="0"/>
                <a:cs typeface="Times New Roman" panose="02020603050405020304" pitchFamily="18" charset="0"/>
              </a:rPr>
              <a:t>Though extensive experimentation and evaluation, the system achieved significant performance in terms of accuracy and robustness. The model successfully learned discriminative features from facial images and demonstrated its ability to classify various emotions, including happiness, sadness, anger, surprise, disgust, fear and neutral expressions. The utilization of techniques such as data pre-processing, CNN architecture design, and optimization algorithms contributed to the overall success of the system.</a:t>
            </a:r>
          </a:p>
          <a:p>
            <a:r>
              <a:rPr lang="en-IN" i="1" kern="100" dirty="0">
                <a:effectLst/>
                <a:latin typeface="Bookman Old Style" panose="02050604050505020204" pitchFamily="18" charset="0"/>
                <a:ea typeface="Calibri" panose="020F0502020204030204" pitchFamily="34" charset="0"/>
                <a:cs typeface="Times New Roman" panose="02020603050405020304" pitchFamily="18" charset="0"/>
              </a:rPr>
              <a:t>In summary, the facial expression detection system based on CNNs has demonstrated its potential in accurately recognizing and classifying facial expressions. Future research can further advance this field by addressing the aforementioned areas, leading to more robust, real-time, and interpretable systems for facial expression analysis. </a:t>
            </a:r>
          </a:p>
          <a:p>
            <a:endParaRPr lang="en" sz="1200" b="1" dirty="0">
              <a:latin typeface="Bookman Old Style" panose="02050604050505020204" pitchFamily="18" charset="0"/>
            </a:endParaRPr>
          </a:p>
          <a:p>
            <a:endParaRPr lang="en-IN" dirty="0"/>
          </a:p>
        </p:txBody>
      </p:sp>
    </p:spTree>
    <p:extLst>
      <p:ext uri="{BB962C8B-B14F-4D97-AF65-F5344CB8AC3E}">
        <p14:creationId xmlns:p14="http://schemas.microsoft.com/office/powerpoint/2010/main" val="2018080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7DE5B9-F29B-63B9-5309-6E81FAC3035E}"/>
              </a:ext>
            </a:extLst>
          </p:cNvPr>
          <p:cNvSpPr txBox="1"/>
          <p:nvPr/>
        </p:nvSpPr>
        <p:spPr>
          <a:xfrm>
            <a:off x="230933" y="713706"/>
            <a:ext cx="11189736" cy="3724096"/>
          </a:xfrm>
          <a:prstGeom prst="rect">
            <a:avLst/>
          </a:prstGeom>
          <a:noFill/>
        </p:spPr>
        <p:txBody>
          <a:bodyPr wrap="square">
            <a:spAutoFit/>
          </a:bodyPr>
          <a:lstStyle/>
          <a:p>
            <a:pPr>
              <a:buNone/>
            </a:pPr>
            <a:r>
              <a:rPr lang="en-US" sz="2800" b="1" dirty="0">
                <a:latin typeface="Bookman Old Style" panose="02050604050505020204" pitchFamily="18" charset="0"/>
                <a:cs typeface="Times New Roman" panose="02020603050405020304" pitchFamily="18" charset="0"/>
              </a:rPr>
              <a:t>Results</a:t>
            </a:r>
            <a:endParaRPr lang="en-US" sz="5400" b="1" dirty="0">
              <a:latin typeface="Bookman Old Style" panose="02050604050505020204" pitchFamily="18" charset="0"/>
              <a:cs typeface="Times New Roman" panose="02020603050405020304" pitchFamily="18" charset="0"/>
            </a:endParaRPr>
          </a:p>
          <a:p>
            <a:endParaRPr lang="en-US" dirty="0">
              <a:latin typeface="Bookman Old Style" panose="02050604050505020204" pitchFamily="18" charset="0"/>
            </a:endParaRPr>
          </a:p>
          <a:p>
            <a:r>
              <a:rPr lang="en-US" dirty="0">
                <a:latin typeface="Bookman Old Style" panose="02050604050505020204" pitchFamily="18" charset="0"/>
              </a:rPr>
              <a:t>The CNN model achieved high accuracy in classifying facial expressions like happy, sad, and angry. Real-time recognition using a webcam worked well under good lighting, with smooth and responsive emotion detection.</a:t>
            </a:r>
          </a:p>
          <a:p>
            <a:endParaRPr lang="en-US" dirty="0">
              <a:latin typeface="Bookman Old Style" panose="02050604050505020204" pitchFamily="18" charset="0"/>
            </a:endParaRPr>
          </a:p>
          <a:p>
            <a:endParaRPr lang="en-US" dirty="0"/>
          </a:p>
          <a:p>
            <a:pPr>
              <a:buNone/>
            </a:pPr>
            <a:r>
              <a:rPr lang="en-US" sz="2800" b="1" dirty="0">
                <a:latin typeface="Bookman Old Style" panose="02050604050505020204" pitchFamily="18" charset="0"/>
                <a:cs typeface="Times New Roman" panose="02020603050405020304" pitchFamily="18" charset="0"/>
              </a:rPr>
              <a:t>Discussion</a:t>
            </a:r>
          </a:p>
          <a:p>
            <a:r>
              <a:rPr lang="en-US" dirty="0">
                <a:latin typeface="Bookman Old Style" panose="02050604050505020204" pitchFamily="18" charset="0"/>
              </a:rPr>
              <a:t>The model performed best on clear emotions like happy and surprised but struggled with similar expressions like fear and disgust. Accuracy dropped in low-light or occluded conditions. Future improvements could include deeper models, better face detection, and more diverse training data.</a:t>
            </a:r>
          </a:p>
          <a:p>
            <a:endParaRPr lang="en-US" dirty="0"/>
          </a:p>
        </p:txBody>
      </p:sp>
    </p:spTree>
    <p:extLst>
      <p:ext uri="{BB962C8B-B14F-4D97-AF65-F5344CB8AC3E}">
        <p14:creationId xmlns:p14="http://schemas.microsoft.com/office/powerpoint/2010/main" val="2289231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C05E429-4424-8A80-9EB5-7AF0BCC88C88}"/>
              </a:ext>
            </a:extLst>
          </p:cNvPr>
          <p:cNvSpPr txBox="1"/>
          <p:nvPr/>
        </p:nvSpPr>
        <p:spPr>
          <a:xfrm>
            <a:off x="280780" y="228123"/>
            <a:ext cx="11490385" cy="6401753"/>
          </a:xfrm>
          <a:prstGeom prst="rect">
            <a:avLst/>
          </a:prstGeom>
          <a:noFill/>
        </p:spPr>
        <p:txBody>
          <a:bodyPr wrap="square">
            <a:spAutoFit/>
          </a:bodyPr>
          <a:lstStyle/>
          <a:p>
            <a:pPr algn="ctr"/>
            <a:r>
              <a:rPr lang="en" sz="2000" b="1" dirty="0">
                <a:latin typeface="Bookman Old Style" panose="02050604050505020204" pitchFamily="18" charset="0"/>
              </a:rPr>
              <a:t>Paper Link</a:t>
            </a:r>
          </a:p>
          <a:p>
            <a:endParaRPr lang="en" sz="1200" b="1" dirty="0">
              <a:latin typeface="Bookman Old Style" panose="02050604050505020204" pitchFamily="18" charset="0"/>
            </a:endParaRPr>
          </a:p>
          <a:p>
            <a:pPr marL="342900" lvl="0" indent="-342900">
              <a:lnSpc>
                <a:spcPct val="200000"/>
              </a:lnSpc>
              <a:buFont typeface="+mj-lt"/>
              <a:buAutoNum type="arabicPeriod"/>
            </a:pPr>
            <a:endParaRPr lang="en-IN" sz="1050" i="1" dirty="0">
              <a:effectLst/>
              <a:latin typeface="Bookman Old Style" panose="02050604050505020204" pitchFamily="18" charset="0"/>
              <a:ea typeface="Times New Roman" panose="02020603050405020304" pitchFamily="18" charset="0"/>
              <a:cs typeface="Times New Roman" panose="02020603050405020304" pitchFamily="18" charset="0"/>
            </a:endParaRPr>
          </a:p>
          <a:p>
            <a:pPr marL="342900" lvl="0" indent="-342900">
              <a:lnSpc>
                <a:spcPct val="200000"/>
              </a:lnSpc>
              <a:buFont typeface="+mj-lt"/>
              <a:buAutoNum type="arabicPeriod"/>
            </a:pPr>
            <a:r>
              <a:rPr lang="en-IN" sz="1400" i="1" dirty="0">
                <a:effectLst/>
                <a:latin typeface="Bookman Old Style" panose="02050604050505020204" pitchFamily="18" charset="0"/>
                <a:ea typeface="Times New Roman" panose="02020603050405020304" pitchFamily="18" charset="0"/>
                <a:cs typeface="Times New Roman" panose="02020603050405020304" pitchFamily="18" charset="0"/>
              </a:rPr>
              <a:t>Jaiswal, S., &amp; Valstar, M. (2016). Deep learning the dynamic appearance and shape of facial action units. https://doi.org/10.1109/wacv.2016.7477625</a:t>
            </a:r>
          </a:p>
          <a:p>
            <a:pPr marL="342900" lvl="0" indent="-342900">
              <a:lnSpc>
                <a:spcPct val="200000"/>
              </a:lnSpc>
              <a:buFont typeface="+mj-lt"/>
              <a:buAutoNum type="arabicPeriod"/>
            </a:pPr>
            <a:r>
              <a:rPr lang="en-IN" sz="1400" i="1" dirty="0">
                <a:effectLst/>
                <a:latin typeface="Bookman Old Style" panose="02050604050505020204" pitchFamily="18" charset="0"/>
                <a:ea typeface="Times New Roman" panose="02020603050405020304" pitchFamily="18" charset="0"/>
                <a:cs typeface="Times New Roman" panose="02020603050405020304" pitchFamily="18" charset="0"/>
              </a:rPr>
              <a:t>Li, J., Mi, Y., Li, G., &amp; Ju, Z. (2019). CNN-Based Facial Expression Recognition from Annotated RGB-D Images for Human–Robot Interaction. International Journal of Humanoid Robotics, 16(04), 1941002. https://doi.org/10.1142/s0219843619410020</a:t>
            </a:r>
          </a:p>
          <a:p>
            <a:pPr marL="342900" lvl="0" indent="-342900">
              <a:lnSpc>
                <a:spcPct val="200000"/>
              </a:lnSpc>
              <a:buFont typeface="+mj-lt"/>
              <a:buAutoNum type="arabicPeriod"/>
            </a:pPr>
            <a:r>
              <a:rPr lang="en-IN" sz="1400" i="1" dirty="0">
                <a:effectLst/>
                <a:latin typeface="Bookman Old Style" panose="02050604050505020204" pitchFamily="18" charset="0"/>
                <a:ea typeface="Times New Roman" panose="02020603050405020304" pitchFamily="18" charset="0"/>
                <a:cs typeface="Times New Roman" panose="02020603050405020304" pitchFamily="18" charset="0"/>
              </a:rPr>
              <a:t>Singh, S., &amp; Nasoz, F. (2020). Facial Expression Recognition with Convolutional Neural Networks. In 2020 10th Annual Computing and Communication Workshop and Conference (CCWC). https://doi.org/10.1109/ccwc47524.2020.9031283</a:t>
            </a:r>
          </a:p>
          <a:p>
            <a:pPr marL="342900" lvl="0" indent="-342900">
              <a:lnSpc>
                <a:spcPct val="200000"/>
              </a:lnSpc>
              <a:buFont typeface="+mj-lt"/>
              <a:buAutoNum type="arabicPeriod"/>
            </a:pPr>
            <a:r>
              <a:rPr lang="en-IN" sz="1400" i="1" dirty="0">
                <a:effectLst/>
                <a:latin typeface="Bookman Old Style" panose="02050604050505020204" pitchFamily="18" charset="0"/>
                <a:ea typeface="Times New Roman" panose="02020603050405020304" pitchFamily="18" charset="0"/>
                <a:cs typeface="Times New Roman" panose="02020603050405020304" pitchFamily="18" charset="0"/>
              </a:rPr>
              <a:t>Begaj, S., Topal, A., &amp; Ali, M. (2020). Emotion Recognition Based on Facial Expressions Using Convolutional Neural Network (CNN). https://doi.org/10.1109/contesa50436.2020.9302866</a:t>
            </a:r>
          </a:p>
          <a:p>
            <a:pPr marL="342900" lvl="0" indent="-342900">
              <a:lnSpc>
                <a:spcPct val="200000"/>
              </a:lnSpc>
              <a:buFont typeface="+mj-lt"/>
              <a:buAutoNum type="arabicPeriod"/>
            </a:pPr>
            <a:r>
              <a:rPr lang="en-IN" sz="1400" i="1" dirty="0">
                <a:effectLst/>
                <a:latin typeface="Bookman Old Style" panose="02050604050505020204" pitchFamily="18" charset="0"/>
                <a:ea typeface="Times New Roman" panose="02020603050405020304" pitchFamily="18" charset="0"/>
                <a:cs typeface="Times New Roman" panose="02020603050405020304" pitchFamily="18" charset="0"/>
              </a:rPr>
              <a:t>2017, Zhang et al. proposed a novel CNN architecture Attentional Convolutional Neural Network (ACNN) for facial expression detection. (2018). IEEE.</a:t>
            </a:r>
          </a:p>
          <a:p>
            <a:pPr marL="342900" lvl="0" indent="-342900">
              <a:lnSpc>
                <a:spcPct val="200000"/>
              </a:lnSpc>
              <a:buFont typeface="+mj-lt"/>
              <a:buAutoNum type="arabicPeriod"/>
            </a:pPr>
            <a:r>
              <a:rPr lang="en-IN" sz="1400" i="1" dirty="0">
                <a:effectLst/>
                <a:latin typeface="Bookman Old Style" panose="02050604050505020204" pitchFamily="18" charset="0"/>
                <a:ea typeface="Times New Roman" panose="02020603050405020304" pitchFamily="18" charset="0"/>
                <a:cs typeface="Times New Roman" panose="02020603050405020304" pitchFamily="18" charset="0"/>
              </a:rPr>
              <a:t>Facial Emotion Recognition using Deep Learning. (2022, March 10). IEEE Conference Publication | IEEE Xplore. https://ieeexplore.ieee.org/document/9752189</a:t>
            </a:r>
          </a:p>
          <a:p>
            <a:endParaRPr lang="en" sz="1000" b="1" i="1" dirty="0">
              <a:latin typeface="Bookman Old Style" panose="02050604050505020204" pitchFamily="18" charset="0"/>
              <a:cs typeface="Times New Roman" panose="02020603050405020304" pitchFamily="18" charset="0"/>
            </a:endParaRPr>
          </a:p>
          <a:p>
            <a:endParaRPr lang="en-IN" sz="1050" i="1" dirty="0">
              <a:latin typeface="Bookman Old Style" panose="02050604050505020204" pitchFamily="18" charset="0"/>
              <a:cs typeface="Times New Roman" panose="02020603050405020304" pitchFamily="18" charset="0"/>
            </a:endParaRPr>
          </a:p>
        </p:txBody>
      </p:sp>
    </p:spTree>
    <p:extLst>
      <p:ext uri="{BB962C8B-B14F-4D97-AF65-F5344CB8AC3E}">
        <p14:creationId xmlns:p14="http://schemas.microsoft.com/office/powerpoint/2010/main" val="32941076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6929</TotalTime>
  <Words>2153</Words>
  <Application>Microsoft Office PowerPoint</Application>
  <PresentationFormat>Widescreen</PresentationFormat>
  <Paragraphs>128</Paragraphs>
  <Slides>23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Bookman Old Style</vt:lpstr>
      <vt:lpstr>Calibri</vt:lpstr>
      <vt:lpstr>Century Gothic</vt:lpstr>
      <vt:lpstr>Symbol</vt:lpstr>
      <vt:lpstr>Times New Roman</vt:lpstr>
      <vt:lpstr>Wingdings</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Dataset Exploration and Visualization</vt:lpstr>
      <vt:lpstr>Data Pre-processing</vt:lpstr>
      <vt:lpstr>Data Pre-processing</vt:lpstr>
      <vt:lpstr>PowerPoint Presentation</vt:lpstr>
      <vt:lpstr>PowerPoint Presentation</vt:lpstr>
      <vt:lpstr>Summary of Proposed CNN Architecture</vt:lpstr>
      <vt:lpstr>PowerPoint Presentation</vt:lpstr>
      <vt:lpstr>   Analysis of Accuracy Graph</vt:lpstr>
      <vt:lpstr>Analysis of Loss Graph</vt:lpstr>
      <vt:lpstr>Analysis of Confusion Matrix</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Shivam Singh</dc:creator>
  <cp:lastModifiedBy>patelsiddharth11120@outlook.com</cp:lastModifiedBy>
  <cp:revision>38</cp:revision>
  <dcterms:created xsi:type="dcterms:W3CDTF">2023-05-22T07:09:45Z</dcterms:created>
  <dcterms:modified xsi:type="dcterms:W3CDTF">2025-05-04T08:47:10Z</dcterms:modified>
</cp:coreProperties>
</file>